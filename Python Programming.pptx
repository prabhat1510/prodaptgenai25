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FA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15915" y="2096770"/>
            <a:ext cx="184022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2525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2525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2525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2525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154" y="214629"/>
            <a:ext cx="11651691" cy="7825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2525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85795" y="1833626"/>
            <a:ext cx="5416550" cy="4391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://www.anacond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list_pop.asp" TargetMode="External"/><Relationship Id="rId3" Type="http://schemas.openxmlformats.org/officeDocument/2006/relationships/hyperlink" Target="https://www.w3schools.com/python/ref_list_clear.asp" TargetMode="External"/><Relationship Id="rId7" Type="http://schemas.openxmlformats.org/officeDocument/2006/relationships/hyperlink" Target="https://www.w3schools.com/python/ref_list_insert.asp" TargetMode="External"/><Relationship Id="rId2" Type="http://schemas.openxmlformats.org/officeDocument/2006/relationships/hyperlink" Target="https://www.w3schools.com/python/ref_list_append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list_index.asp" TargetMode="External"/><Relationship Id="rId11" Type="http://schemas.openxmlformats.org/officeDocument/2006/relationships/hyperlink" Target="https://www.w3schools.com/python/ref_list_sort.asp" TargetMode="External"/><Relationship Id="rId5" Type="http://schemas.openxmlformats.org/officeDocument/2006/relationships/hyperlink" Target="https://www.w3schools.com/python/ref_list_count.asp" TargetMode="External"/><Relationship Id="rId10" Type="http://schemas.openxmlformats.org/officeDocument/2006/relationships/hyperlink" Target="https://www.w3schools.com/python/ref_list_reverse.asp" TargetMode="External"/><Relationship Id="rId4" Type="http://schemas.openxmlformats.org/officeDocument/2006/relationships/hyperlink" Target="https://www.w3schools.com/python/ref_list_copy.asp" TargetMode="External"/><Relationship Id="rId9" Type="http://schemas.openxmlformats.org/officeDocument/2006/relationships/hyperlink" Target="https://www.w3schools.com/python/ref_list_remove.asp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25851" y="2480563"/>
            <a:ext cx="57111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Python </a:t>
            </a:r>
            <a:r>
              <a:rPr sz="4400" spc="-10" dirty="0">
                <a:solidFill>
                  <a:srgbClr val="FFFFFF"/>
                </a:solidFill>
              </a:rPr>
              <a:t>Programming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395983" y="1461516"/>
            <a:ext cx="8486775" cy="4440555"/>
            <a:chOff x="1395983" y="1461516"/>
            <a:chExt cx="8486775" cy="44405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5983" y="1461516"/>
              <a:ext cx="950226" cy="4440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1743" y="1639798"/>
              <a:ext cx="8120633" cy="604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23642" y="1711197"/>
            <a:ext cx="251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24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Basics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03603" y="1569707"/>
            <a:ext cx="8479155" cy="1544955"/>
            <a:chOff x="1403603" y="1569707"/>
            <a:chExt cx="8479155" cy="154495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3603" y="1569707"/>
              <a:ext cx="742949" cy="7429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7795" y="2510027"/>
              <a:ext cx="7704582" cy="60426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639314" y="2581402"/>
            <a:ext cx="1382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Collections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18132" y="2439911"/>
            <a:ext cx="8064500" cy="2413635"/>
            <a:chOff x="1818132" y="2439911"/>
            <a:chExt cx="8064500" cy="24136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8132" y="2439911"/>
              <a:ext cx="744486" cy="74296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5812" y="3378708"/>
              <a:ext cx="7576566" cy="6057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6148" y="3310128"/>
              <a:ext cx="742962" cy="7429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77796" y="4248911"/>
              <a:ext cx="7704582" cy="60426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639314" y="4321251"/>
            <a:ext cx="1228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61744" y="4180319"/>
            <a:ext cx="8121015" cy="1543685"/>
            <a:chOff x="1761744" y="4180319"/>
            <a:chExt cx="8121015" cy="154368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8132" y="4180319"/>
              <a:ext cx="744486" cy="7429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1744" y="5119115"/>
              <a:ext cx="8120633" cy="60429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223642" y="5191759"/>
            <a:ext cx="1584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3603" y="5050535"/>
            <a:ext cx="742949" cy="742962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466344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134F"/>
                </a:solidFill>
                <a:latin typeface="Calibri"/>
                <a:cs typeface="Calibri"/>
              </a:rPr>
              <a:t>Modules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72844" y="175577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02866" y="263080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63267" y="3451605"/>
            <a:ext cx="239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255" algn="l"/>
              </a:tabLst>
            </a:pP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3</a:t>
            </a: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11501" y="442031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72844" y="52795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25423" y="3043529"/>
            <a:ext cx="9432290" cy="1068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5994" marR="5080" indent="-963930">
              <a:lnSpc>
                <a:spcPct val="106900"/>
              </a:lnSpc>
              <a:spcBef>
                <a:spcPts val="95"/>
              </a:spcBef>
            </a:pP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Programming</a:t>
            </a:r>
            <a:r>
              <a:rPr sz="3200" spc="-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Basics</a:t>
            </a:r>
            <a:r>
              <a:rPr sz="3200" spc="-1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(Introduction,</a:t>
            </a:r>
            <a:r>
              <a:rPr sz="3200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Datatypes,</a:t>
            </a:r>
            <a:r>
              <a:rPr sz="3200" spc="-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Operators,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Conditional</a:t>
            </a:r>
            <a:r>
              <a:rPr sz="3200" spc="-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Statements,</a:t>
            </a:r>
            <a:r>
              <a:rPr sz="3200" spc="-1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Looping</a:t>
            </a:r>
            <a:r>
              <a:rPr sz="3200" spc="-11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Statements)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Module</a:t>
            </a:r>
            <a:r>
              <a:rPr sz="3600" spc="-13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29292A"/>
                </a:solidFill>
                <a:latin typeface="Calibri"/>
                <a:cs typeface="Calibri"/>
              </a:rPr>
              <a:t>1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Python</a:t>
            </a:r>
            <a:r>
              <a:rPr spc="-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Why</a:t>
            </a:r>
            <a:r>
              <a:rPr spc="-35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popular?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704" y="2025853"/>
            <a:ext cx="5154295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High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Level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Language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Simple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Easy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learn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4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Free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Portable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supports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multiple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platforms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Supports</a:t>
            </a:r>
            <a:r>
              <a:rPr sz="1800" spc="-6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different</a:t>
            </a:r>
            <a:r>
              <a:rPr sz="1800" spc="-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paradigm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Extensible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invoke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c,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c++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libraries 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integrate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with Java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&amp;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.net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Growing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Popularity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127" y="1165097"/>
            <a:ext cx="2914650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Companies</a:t>
            </a:r>
            <a:r>
              <a:rPr spc="-3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1600200"/>
            <a:ext cx="2133600" cy="7315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004" y="2895600"/>
            <a:ext cx="990600" cy="990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8772" y="1408175"/>
            <a:ext cx="1106424" cy="11064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2323" y="1442809"/>
            <a:ext cx="3183752" cy="8889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7911" y="2896361"/>
            <a:ext cx="3648433" cy="990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66408" y="3081405"/>
            <a:ext cx="2566266" cy="646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5555" y="4236281"/>
            <a:ext cx="1531708" cy="18803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53355" y="4660391"/>
            <a:ext cx="2907792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13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67044" y="2641092"/>
            <a:ext cx="548640" cy="548640"/>
          </a:xfrm>
          <a:prstGeom prst="rect">
            <a:avLst/>
          </a:prstGeom>
          <a:solidFill>
            <a:srgbClr val="0355AF"/>
          </a:solidFill>
        </p:spPr>
        <p:txBody>
          <a:bodyPr vert="horz" wrap="square" lIns="0" tIns="13081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3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06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7044" y="1447800"/>
            <a:ext cx="548640" cy="548640"/>
          </a:xfrm>
          <a:prstGeom prst="rect">
            <a:avLst/>
          </a:prstGeom>
          <a:solidFill>
            <a:srgbClr val="006185"/>
          </a:solidFill>
        </p:spPr>
        <p:txBody>
          <a:bodyPr vert="horz" wrap="square" lIns="0" tIns="130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3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5847" y="2621279"/>
            <a:ext cx="548640" cy="548640"/>
          </a:xfrm>
          <a:prstGeom prst="rect">
            <a:avLst/>
          </a:prstGeom>
          <a:solidFill>
            <a:srgbClr val="2A9D00"/>
          </a:solidFill>
        </p:spPr>
        <p:txBody>
          <a:bodyPr vert="horz" wrap="square" lIns="0" tIns="13208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4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5179" y="1447800"/>
            <a:ext cx="548640" cy="548640"/>
          </a:xfrm>
          <a:prstGeom prst="rect">
            <a:avLst/>
          </a:prstGeom>
          <a:solidFill>
            <a:srgbClr val="0086D6"/>
          </a:solidFill>
        </p:spPr>
        <p:txBody>
          <a:bodyPr vert="horz" wrap="square" lIns="0" tIns="13081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3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651" y="2625851"/>
            <a:ext cx="548640" cy="548640"/>
          </a:xfrm>
          <a:prstGeom prst="rect">
            <a:avLst/>
          </a:prstGeom>
          <a:solidFill>
            <a:srgbClr val="9F9F9F"/>
          </a:solidFill>
        </p:spPr>
        <p:txBody>
          <a:bodyPr vert="horz" wrap="square" lIns="0" tIns="13081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3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651" y="1447800"/>
            <a:ext cx="548640" cy="548640"/>
          </a:xfrm>
          <a:prstGeom prst="rect">
            <a:avLst/>
          </a:prstGeom>
          <a:solidFill>
            <a:srgbClr val="00C6FC"/>
          </a:solidFill>
        </p:spPr>
        <p:txBody>
          <a:bodyPr vert="horz" wrap="square" lIns="0" tIns="13081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3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2032" y="1477517"/>
            <a:ext cx="1784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92A"/>
                </a:solidFill>
                <a:latin typeface="Arial"/>
                <a:cs typeface="Arial"/>
              </a:rPr>
              <a:t>WEB</a:t>
            </a:r>
            <a:r>
              <a:rPr sz="1500" b="1" spc="-70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9292A"/>
                </a:solidFill>
                <a:latin typeface="Arial"/>
                <a:cs typeface="Arial"/>
              </a:rPr>
              <a:t>APPLICATION </a:t>
            </a: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DEVELOPMENT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2032" y="2656459"/>
            <a:ext cx="14173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29292A"/>
                </a:solidFill>
                <a:latin typeface="Arial"/>
                <a:cs typeface="Arial"/>
              </a:rPr>
              <a:t>DATA</a:t>
            </a:r>
            <a:r>
              <a:rPr sz="1500" b="1" spc="-20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SCIENCE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6529" y="1477517"/>
            <a:ext cx="15227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92A"/>
                </a:solidFill>
                <a:latin typeface="Arial"/>
                <a:cs typeface="Arial"/>
              </a:rPr>
              <a:t>WEB</a:t>
            </a:r>
            <a:r>
              <a:rPr sz="1500" b="1" spc="-20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SCRAPING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6529" y="2656459"/>
            <a:ext cx="11385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29292A"/>
                </a:solidFill>
                <a:latin typeface="Arial"/>
                <a:cs typeface="Arial"/>
              </a:rPr>
              <a:t>EDUCATION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1408" y="1477517"/>
            <a:ext cx="1329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DESKTOP</a:t>
            </a:r>
            <a:r>
              <a:rPr sz="1500" b="1" spc="-45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9292A"/>
                </a:solidFill>
                <a:latin typeface="Arial"/>
                <a:cs typeface="Arial"/>
              </a:rPr>
              <a:t>GUI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01408" y="2656459"/>
            <a:ext cx="10134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MACHINE </a:t>
            </a:r>
            <a:r>
              <a:rPr sz="1500" b="1" spc="-20" dirty="0">
                <a:solidFill>
                  <a:srgbClr val="29292A"/>
                </a:solidFill>
                <a:latin typeface="Arial"/>
                <a:cs typeface="Arial"/>
              </a:rPr>
              <a:t>LEARNING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77711" y="3796284"/>
            <a:ext cx="548640" cy="548640"/>
          </a:xfrm>
          <a:prstGeom prst="rect">
            <a:avLst/>
          </a:prstGeom>
          <a:solidFill>
            <a:srgbClr val="38D200"/>
          </a:solidFill>
        </p:spPr>
        <p:txBody>
          <a:bodyPr vert="horz" wrap="square" lIns="0" tIns="13144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35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09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63467" y="3787140"/>
            <a:ext cx="548640" cy="548640"/>
          </a:xfrm>
          <a:prstGeom prst="rect">
            <a:avLst/>
          </a:prstGeom>
          <a:solidFill>
            <a:srgbClr val="96E9FF"/>
          </a:solidFill>
        </p:spPr>
        <p:txBody>
          <a:bodyPr vert="horz" wrap="square" lIns="0" tIns="13144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35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555" y="3796284"/>
            <a:ext cx="548640" cy="548640"/>
          </a:xfrm>
          <a:prstGeom prst="rect">
            <a:avLst/>
          </a:prstGeom>
          <a:solidFill>
            <a:srgbClr val="3D3D40"/>
          </a:solidFill>
        </p:spPr>
        <p:txBody>
          <a:bodyPr vert="horz" wrap="square" lIns="0" tIns="131445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35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2032" y="3816477"/>
            <a:ext cx="1416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ARTIFICIAL INTELLIGENCE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6529" y="3816477"/>
            <a:ext cx="15106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NETWORK PROGRAMMING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01408" y="3816477"/>
            <a:ext cx="1478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92A"/>
                </a:solidFill>
                <a:latin typeface="Arial"/>
                <a:cs typeface="Arial"/>
              </a:rPr>
              <a:t>GAMES</a:t>
            </a:r>
            <a:r>
              <a:rPr sz="1500" b="1" spc="-75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9292A"/>
                </a:solidFill>
                <a:latin typeface="Arial"/>
                <a:cs typeface="Arial"/>
              </a:rPr>
              <a:t>AND</a:t>
            </a:r>
            <a:r>
              <a:rPr sz="1500" b="1" spc="-35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29292A"/>
                </a:solidFill>
                <a:latin typeface="Arial"/>
                <a:cs typeface="Arial"/>
              </a:rPr>
              <a:t>3D </a:t>
            </a: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GRAPHICS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0796" y="4997196"/>
            <a:ext cx="548640" cy="548640"/>
          </a:xfrm>
          <a:prstGeom prst="rect">
            <a:avLst/>
          </a:prstGeom>
          <a:solidFill>
            <a:srgbClr val="2A9D00"/>
          </a:solidFill>
        </p:spPr>
        <p:txBody>
          <a:bodyPr vert="horz" wrap="square" lIns="0" tIns="13208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4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600" y="5000244"/>
            <a:ext cx="548640" cy="548640"/>
          </a:xfrm>
          <a:prstGeom prst="rect">
            <a:avLst/>
          </a:prstGeom>
          <a:solidFill>
            <a:srgbClr val="9F9F9F"/>
          </a:solidFill>
        </p:spPr>
        <p:txBody>
          <a:bodyPr vert="horz" wrap="square" lIns="0" tIns="13208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40"/>
              </a:spcBef>
            </a:pP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6980" y="4983860"/>
            <a:ext cx="12325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SUPPORT </a:t>
            </a:r>
            <a:r>
              <a:rPr sz="1500" b="1" dirty="0">
                <a:solidFill>
                  <a:srgbClr val="29292A"/>
                </a:solidFill>
                <a:latin typeface="Arial"/>
                <a:cs typeface="Arial"/>
              </a:rPr>
              <a:t>LANGUAGE</a:t>
            </a:r>
            <a:r>
              <a:rPr sz="1500" b="1" spc="-45" dirty="0">
                <a:solidFill>
                  <a:srgbClr val="29292A"/>
                </a:solidFill>
                <a:latin typeface="Arial"/>
                <a:cs typeface="Arial"/>
              </a:rPr>
              <a:t> </a:t>
            </a:r>
            <a:r>
              <a:rPr sz="1500" b="1" spc="-50" dirty="0">
                <a:solidFill>
                  <a:srgbClr val="29292A"/>
                </a:solidFill>
                <a:latin typeface="Arial"/>
                <a:cs typeface="Arial"/>
              </a:rPr>
              <a:t>- </a:t>
            </a: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SELENIUM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51859" y="5031740"/>
            <a:ext cx="1050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29292A"/>
                </a:solidFill>
                <a:latin typeface="Arial"/>
                <a:cs typeface="Arial"/>
              </a:rPr>
              <a:t>DATABASE </a:t>
            </a:r>
            <a:r>
              <a:rPr sz="1500" b="1" spc="-10" dirty="0">
                <a:solidFill>
                  <a:srgbClr val="29292A"/>
                </a:solidFill>
                <a:latin typeface="Arial"/>
                <a:cs typeface="Arial"/>
              </a:rPr>
              <a:t>ACCESS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Setting</a:t>
            </a:r>
            <a:r>
              <a:rPr spc="-55" dirty="0"/>
              <a:t> </a:t>
            </a:r>
            <a:r>
              <a:rPr dirty="0"/>
              <a:t>up</a:t>
            </a:r>
            <a:r>
              <a:rPr spc="-50" dirty="0"/>
              <a:t> </a:t>
            </a:r>
            <a:r>
              <a:rPr dirty="0"/>
              <a:t>Working</a:t>
            </a:r>
            <a:r>
              <a:rPr spc="-5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3799" y="1240282"/>
            <a:ext cx="2430145" cy="17894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109855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There</a:t>
            </a:r>
            <a:r>
              <a:rPr sz="1800" spc="-4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are</a:t>
            </a:r>
            <a:r>
              <a:rPr sz="1800" spc="-5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two</a:t>
            </a:r>
            <a:r>
              <a:rPr sz="1800" spc="-6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options</a:t>
            </a:r>
            <a:r>
              <a:rPr sz="1800" spc="-25" dirty="0">
                <a:solidFill>
                  <a:srgbClr val="525254"/>
                </a:solidFill>
                <a:latin typeface="Calibri"/>
                <a:cs typeface="Calibri"/>
              </a:rPr>
              <a:t> to </a:t>
            </a: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install</a:t>
            </a:r>
            <a:r>
              <a:rPr sz="1800" spc="-8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Calibri"/>
                <a:cs typeface="Calibri"/>
              </a:rPr>
              <a:t>Python: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70"/>
              </a:spcBef>
              <a:buClr>
                <a:srgbClr val="D3D3D3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Barebone</a:t>
            </a:r>
            <a:r>
              <a:rPr sz="1800" spc="-5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Python</a:t>
            </a:r>
            <a:r>
              <a:rPr sz="1800" spc="-5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Calibri"/>
                <a:cs typeface="Calibri"/>
              </a:rPr>
              <a:t>(Base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spc="-10" dirty="0">
                <a:solidFill>
                  <a:srgbClr val="525254"/>
                </a:solidFill>
                <a:latin typeface="Calibri"/>
                <a:cs typeface="Calibri"/>
              </a:rPr>
              <a:t>Python)</a:t>
            </a:r>
            <a:endParaRPr sz="1800">
              <a:latin typeface="Calibri"/>
              <a:cs typeface="Calibri"/>
            </a:endParaRPr>
          </a:p>
          <a:p>
            <a:pPr marL="241300" marR="506730" indent="-228600">
              <a:lnSpc>
                <a:spcPts val="1939"/>
              </a:lnSpc>
              <a:spcBef>
                <a:spcPts val="1025"/>
              </a:spcBef>
              <a:buClr>
                <a:srgbClr val="D3D3D3"/>
              </a:buClr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Full</a:t>
            </a:r>
            <a:r>
              <a:rPr sz="1800" spc="-4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blown</a:t>
            </a:r>
            <a:r>
              <a:rPr sz="1800" spc="-2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Calibri"/>
                <a:cs typeface="Calibri"/>
              </a:rPr>
              <a:t>python 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799" y="3431741"/>
            <a:ext cx="1923414" cy="119634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800" dirty="0">
                <a:solidFill>
                  <a:srgbClr val="525254"/>
                </a:solidFill>
                <a:latin typeface="Calibri"/>
                <a:cs typeface="Calibri"/>
              </a:rPr>
              <a:t>Python</a:t>
            </a:r>
            <a:r>
              <a:rPr sz="1800" spc="-4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Calibri"/>
                <a:cs typeface="Calibri"/>
              </a:rPr>
              <a:t>Distributions</a:t>
            </a:r>
            <a:endParaRPr sz="18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320"/>
              </a:spcBef>
              <a:buClr>
                <a:srgbClr val="D3D3D3"/>
              </a:buClr>
              <a:buFont typeface="Wingdings"/>
              <a:buChar char=""/>
              <a:tabLst>
                <a:tab pos="698500" algn="l"/>
              </a:tabLst>
            </a:pPr>
            <a:r>
              <a:rPr sz="1600" spc="-10" dirty="0">
                <a:solidFill>
                  <a:srgbClr val="525254"/>
                </a:solidFill>
                <a:latin typeface="Calibri"/>
                <a:cs typeface="Calibri"/>
              </a:rPr>
              <a:t>Anacoda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310"/>
              </a:spcBef>
              <a:buClr>
                <a:srgbClr val="D3D3D3"/>
              </a:buClr>
              <a:buFont typeface="Wingdings"/>
              <a:buChar char=""/>
              <a:tabLst>
                <a:tab pos="698500" algn="l"/>
              </a:tabLst>
            </a:pPr>
            <a:r>
              <a:rPr sz="1600" spc="-10" dirty="0">
                <a:solidFill>
                  <a:srgbClr val="525254"/>
                </a:solidFill>
                <a:latin typeface="Calibri"/>
                <a:cs typeface="Calibri"/>
              </a:rPr>
              <a:t>Canopy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300"/>
              </a:spcBef>
              <a:buClr>
                <a:srgbClr val="D3D3D3"/>
              </a:buClr>
              <a:buFont typeface="Wingdings"/>
              <a:buChar char=""/>
              <a:tabLst>
                <a:tab pos="698500" algn="l"/>
              </a:tabLst>
            </a:pPr>
            <a:r>
              <a:rPr sz="1600" spc="-10" dirty="0">
                <a:solidFill>
                  <a:srgbClr val="525254"/>
                </a:solidFill>
                <a:latin typeface="Calibri"/>
                <a:cs typeface="Calibri"/>
              </a:rPr>
              <a:t>WinPython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57600" y="2543555"/>
            <a:ext cx="2487295" cy="2237105"/>
            <a:chOff x="3657600" y="2543555"/>
            <a:chExt cx="2487295" cy="22371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269" y="3580674"/>
              <a:ext cx="1194572" cy="119960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2543555"/>
              <a:ext cx="614172" cy="5608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4775" y="2572511"/>
              <a:ext cx="615696" cy="5608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595" y="2543555"/>
              <a:ext cx="614172" cy="56083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362322" y="185635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Option</a:t>
            </a:r>
            <a:r>
              <a:rPr sz="1800" b="1" spc="-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56921" y="1437449"/>
            <a:ext cx="3017520" cy="4365625"/>
            <a:chOff x="6356921" y="1437449"/>
            <a:chExt cx="3017520" cy="4365625"/>
          </a:xfrm>
        </p:grpSpPr>
        <p:sp>
          <p:nvSpPr>
            <p:cNvPr id="15" name="object 15"/>
            <p:cNvSpPr/>
            <p:nvPr/>
          </p:nvSpPr>
          <p:spPr>
            <a:xfrm>
              <a:off x="6368034" y="1448561"/>
              <a:ext cx="36830" cy="4343400"/>
            </a:xfrm>
            <a:custGeom>
              <a:avLst/>
              <a:gdLst/>
              <a:ahLst/>
              <a:cxnLst/>
              <a:rect l="l" t="t" r="r" b="b"/>
              <a:pathLst>
                <a:path w="36829" h="4343400">
                  <a:moveTo>
                    <a:pt x="0" y="0"/>
                  </a:moveTo>
                  <a:lnTo>
                    <a:pt x="36321" y="4343400"/>
                  </a:lnTo>
                </a:path>
              </a:pathLst>
            </a:custGeom>
            <a:ln w="22225">
              <a:solidFill>
                <a:srgbClr val="0473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2026" y="2861346"/>
              <a:ext cx="1194572" cy="11996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9952" y="3191255"/>
              <a:ext cx="614172" cy="5608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9952" y="3938016"/>
              <a:ext cx="614172" cy="5608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7280" y="2400300"/>
              <a:ext cx="615696" cy="56083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613650" y="1845640"/>
            <a:ext cx="9410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Option</a:t>
            </a:r>
            <a:r>
              <a:rPr sz="1800" b="1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525254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54038" y="2194814"/>
            <a:ext cx="2904490" cy="2524760"/>
            <a:chOff x="6654038" y="2194814"/>
            <a:chExt cx="2904490" cy="2524760"/>
          </a:xfrm>
        </p:grpSpPr>
        <p:sp>
          <p:nvSpPr>
            <p:cNvPr id="22" name="object 22"/>
            <p:cNvSpPr/>
            <p:nvPr/>
          </p:nvSpPr>
          <p:spPr>
            <a:xfrm>
              <a:off x="6666738" y="2207514"/>
              <a:ext cx="2879090" cy="2499360"/>
            </a:xfrm>
            <a:custGeom>
              <a:avLst/>
              <a:gdLst/>
              <a:ahLst/>
              <a:cxnLst/>
              <a:rect l="l" t="t" r="r" b="b"/>
              <a:pathLst>
                <a:path w="2879090" h="2499360">
                  <a:moveTo>
                    <a:pt x="0" y="416560"/>
                  </a:moveTo>
                  <a:lnTo>
                    <a:pt x="2803" y="367991"/>
                  </a:lnTo>
                  <a:lnTo>
                    <a:pt x="11004" y="321066"/>
                  </a:lnTo>
                  <a:lnTo>
                    <a:pt x="24291" y="276096"/>
                  </a:lnTo>
                  <a:lnTo>
                    <a:pt x="42350" y="233394"/>
                  </a:lnTo>
                  <a:lnTo>
                    <a:pt x="64868" y="193274"/>
                  </a:lnTo>
                  <a:lnTo>
                    <a:pt x="91533" y="156049"/>
                  </a:lnTo>
                  <a:lnTo>
                    <a:pt x="122031" y="122031"/>
                  </a:lnTo>
                  <a:lnTo>
                    <a:pt x="156049" y="91533"/>
                  </a:lnTo>
                  <a:lnTo>
                    <a:pt x="193274" y="64868"/>
                  </a:lnTo>
                  <a:lnTo>
                    <a:pt x="233394" y="42350"/>
                  </a:lnTo>
                  <a:lnTo>
                    <a:pt x="276096" y="24291"/>
                  </a:lnTo>
                  <a:lnTo>
                    <a:pt x="321066" y="11004"/>
                  </a:lnTo>
                  <a:lnTo>
                    <a:pt x="367991" y="2803"/>
                  </a:lnTo>
                  <a:lnTo>
                    <a:pt x="416559" y="0"/>
                  </a:lnTo>
                  <a:lnTo>
                    <a:pt x="2462276" y="0"/>
                  </a:lnTo>
                  <a:lnTo>
                    <a:pt x="2510844" y="2803"/>
                  </a:lnTo>
                  <a:lnTo>
                    <a:pt x="2557769" y="11004"/>
                  </a:lnTo>
                  <a:lnTo>
                    <a:pt x="2602739" y="24291"/>
                  </a:lnTo>
                  <a:lnTo>
                    <a:pt x="2645441" y="42350"/>
                  </a:lnTo>
                  <a:lnTo>
                    <a:pt x="2685561" y="64868"/>
                  </a:lnTo>
                  <a:lnTo>
                    <a:pt x="2722786" y="91533"/>
                  </a:lnTo>
                  <a:lnTo>
                    <a:pt x="2756804" y="122031"/>
                  </a:lnTo>
                  <a:lnTo>
                    <a:pt x="2787302" y="156049"/>
                  </a:lnTo>
                  <a:lnTo>
                    <a:pt x="2813967" y="193274"/>
                  </a:lnTo>
                  <a:lnTo>
                    <a:pt x="2836485" y="233394"/>
                  </a:lnTo>
                  <a:lnTo>
                    <a:pt x="2854544" y="276096"/>
                  </a:lnTo>
                  <a:lnTo>
                    <a:pt x="2867831" y="321066"/>
                  </a:lnTo>
                  <a:lnTo>
                    <a:pt x="2876032" y="367991"/>
                  </a:lnTo>
                  <a:lnTo>
                    <a:pt x="2878835" y="416560"/>
                  </a:lnTo>
                  <a:lnTo>
                    <a:pt x="2878835" y="2082800"/>
                  </a:lnTo>
                  <a:lnTo>
                    <a:pt x="2876032" y="2131368"/>
                  </a:lnTo>
                  <a:lnTo>
                    <a:pt x="2867831" y="2178293"/>
                  </a:lnTo>
                  <a:lnTo>
                    <a:pt x="2854544" y="2223263"/>
                  </a:lnTo>
                  <a:lnTo>
                    <a:pt x="2836485" y="2265965"/>
                  </a:lnTo>
                  <a:lnTo>
                    <a:pt x="2813967" y="2306085"/>
                  </a:lnTo>
                  <a:lnTo>
                    <a:pt x="2787302" y="2343310"/>
                  </a:lnTo>
                  <a:lnTo>
                    <a:pt x="2756804" y="2377328"/>
                  </a:lnTo>
                  <a:lnTo>
                    <a:pt x="2722786" y="2407826"/>
                  </a:lnTo>
                  <a:lnTo>
                    <a:pt x="2685561" y="2434491"/>
                  </a:lnTo>
                  <a:lnTo>
                    <a:pt x="2645441" y="2457009"/>
                  </a:lnTo>
                  <a:lnTo>
                    <a:pt x="2602739" y="2475068"/>
                  </a:lnTo>
                  <a:lnTo>
                    <a:pt x="2557769" y="2488355"/>
                  </a:lnTo>
                  <a:lnTo>
                    <a:pt x="2510844" y="2496556"/>
                  </a:lnTo>
                  <a:lnTo>
                    <a:pt x="2462276" y="2499360"/>
                  </a:lnTo>
                  <a:lnTo>
                    <a:pt x="416559" y="2499360"/>
                  </a:lnTo>
                  <a:lnTo>
                    <a:pt x="367991" y="2496556"/>
                  </a:lnTo>
                  <a:lnTo>
                    <a:pt x="321066" y="2488355"/>
                  </a:lnTo>
                  <a:lnTo>
                    <a:pt x="276096" y="2475068"/>
                  </a:lnTo>
                  <a:lnTo>
                    <a:pt x="233394" y="2457009"/>
                  </a:lnTo>
                  <a:lnTo>
                    <a:pt x="193274" y="2434491"/>
                  </a:lnTo>
                  <a:lnTo>
                    <a:pt x="156049" y="2407826"/>
                  </a:lnTo>
                  <a:lnTo>
                    <a:pt x="122031" y="2377328"/>
                  </a:lnTo>
                  <a:lnTo>
                    <a:pt x="91533" y="2343310"/>
                  </a:lnTo>
                  <a:lnTo>
                    <a:pt x="64868" y="2306085"/>
                  </a:lnTo>
                  <a:lnTo>
                    <a:pt x="42350" y="2265965"/>
                  </a:lnTo>
                  <a:lnTo>
                    <a:pt x="24291" y="2223263"/>
                  </a:lnTo>
                  <a:lnTo>
                    <a:pt x="11004" y="2178293"/>
                  </a:lnTo>
                  <a:lnTo>
                    <a:pt x="2803" y="2131368"/>
                  </a:lnTo>
                  <a:lnTo>
                    <a:pt x="0" y="2082800"/>
                  </a:lnTo>
                  <a:lnTo>
                    <a:pt x="0" y="416560"/>
                  </a:lnTo>
                  <a:close/>
                </a:path>
              </a:pathLst>
            </a:custGeom>
            <a:ln w="25400">
              <a:solidFill>
                <a:srgbClr val="0152AC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03514" y="2401062"/>
              <a:ext cx="45085" cy="2221230"/>
            </a:xfrm>
            <a:custGeom>
              <a:avLst/>
              <a:gdLst/>
              <a:ahLst/>
              <a:cxnLst/>
              <a:rect l="l" t="t" r="r" b="b"/>
              <a:pathLst>
                <a:path w="45084" h="2221229">
                  <a:moveTo>
                    <a:pt x="45084" y="0"/>
                  </a:moveTo>
                  <a:lnTo>
                    <a:pt x="0" y="2221103"/>
                  </a:lnTo>
                </a:path>
              </a:pathLst>
            </a:custGeom>
            <a:ln w="22225">
              <a:solidFill>
                <a:srgbClr val="0473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63567" y="5057394"/>
            <a:ext cx="130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Base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41115" y="3227654"/>
            <a:ext cx="2309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9413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Specialized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Packages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45529" y="5104002"/>
            <a:ext cx="2967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Specialized</a:t>
            </a:r>
            <a:r>
              <a:rPr sz="1600" spc="3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6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25254"/>
                </a:solidFill>
                <a:latin typeface="Arial"/>
                <a:cs typeface="Arial"/>
              </a:rPr>
              <a:t>Distributions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01161" y="1448561"/>
            <a:ext cx="6553200" cy="4419600"/>
          </a:xfrm>
          <a:custGeom>
            <a:avLst/>
            <a:gdLst/>
            <a:ahLst/>
            <a:cxnLst/>
            <a:rect l="l" t="t" r="r" b="b"/>
            <a:pathLst>
              <a:path w="6553200" h="4419600">
                <a:moveTo>
                  <a:pt x="0" y="4419600"/>
                </a:moveTo>
                <a:lnTo>
                  <a:pt x="6553200" y="4419600"/>
                </a:lnTo>
                <a:lnTo>
                  <a:pt x="6553200" y="0"/>
                </a:lnTo>
                <a:lnTo>
                  <a:pt x="0" y="0"/>
                </a:lnTo>
                <a:lnTo>
                  <a:pt x="0" y="4419600"/>
                </a:lnTo>
                <a:close/>
              </a:path>
            </a:pathLst>
          </a:custGeom>
          <a:ln w="34925">
            <a:solidFill>
              <a:srgbClr val="A8A9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28637" y="4491037"/>
            <a:ext cx="4962525" cy="2181225"/>
          </a:xfrm>
          <a:prstGeom prst="rect">
            <a:avLst/>
          </a:prstGeom>
          <a:ln w="9525">
            <a:solidFill>
              <a:srgbClr val="52525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800">
              <a:latin typeface="Times New Roman"/>
              <a:cs typeface="Times New Roman"/>
            </a:endParaRPr>
          </a:p>
          <a:p>
            <a:pPr marR="450215" algn="ctr">
              <a:lnSpc>
                <a:spcPct val="100000"/>
              </a:lnSpc>
            </a:pPr>
            <a:r>
              <a:rPr sz="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25254"/>
                </a:solidFill>
                <a:latin typeface="Arial"/>
                <a:cs typeface="Arial"/>
              </a:rPr>
              <a:t>Essentials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Install</a:t>
            </a:r>
            <a:r>
              <a:rPr spc="-130" dirty="0"/>
              <a:t> </a:t>
            </a:r>
            <a:r>
              <a:rPr dirty="0"/>
              <a:t>Anaconda on</a:t>
            </a:r>
            <a:r>
              <a:rPr spc="-10" dirty="0"/>
              <a:t> </a:t>
            </a:r>
            <a:r>
              <a:rPr dirty="0"/>
              <a:t>Local</a:t>
            </a:r>
            <a:r>
              <a:rPr spc="-5" dirty="0"/>
              <a:t> </a:t>
            </a:r>
            <a:r>
              <a:rPr spc="-10" dirty="0"/>
              <a:t>Machine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75375" y="5072329"/>
            <a:ext cx="275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25254"/>
                </a:solidFill>
                <a:latin typeface="Arial"/>
                <a:cs typeface="Arial"/>
                <a:hlinkClick r:id="rId2"/>
              </a:rPr>
              <a:t>www.anaconda.com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3875" y="1209611"/>
            <a:ext cx="8324850" cy="3115945"/>
            <a:chOff x="523875" y="1209611"/>
            <a:chExt cx="8324850" cy="31159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246444"/>
              <a:ext cx="8270367" cy="30695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8637" y="1214374"/>
              <a:ext cx="8315325" cy="3106420"/>
            </a:xfrm>
            <a:custGeom>
              <a:avLst/>
              <a:gdLst/>
              <a:ahLst/>
              <a:cxnLst/>
              <a:rect l="l" t="t" r="r" b="b"/>
              <a:pathLst>
                <a:path w="8315325" h="3106420">
                  <a:moveTo>
                    <a:pt x="0" y="3106293"/>
                  </a:moveTo>
                  <a:lnTo>
                    <a:pt x="8315325" y="3106293"/>
                  </a:lnTo>
                  <a:lnTo>
                    <a:pt x="8315325" y="0"/>
                  </a:lnTo>
                  <a:lnTo>
                    <a:pt x="0" y="0"/>
                  </a:lnTo>
                  <a:lnTo>
                    <a:pt x="0" y="3106293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4495800"/>
            <a:ext cx="49530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Jupyter</a:t>
            </a:r>
            <a:r>
              <a:rPr spc="-60" dirty="0"/>
              <a:t> </a:t>
            </a:r>
            <a:r>
              <a:rPr spc="-10" dirty="0"/>
              <a:t>Notebook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938273"/>
            <a:ext cx="5189220" cy="2255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300" marR="152400" indent="-229235">
              <a:lnSpc>
                <a:spcPct val="101699"/>
              </a:lnSpc>
              <a:spcBef>
                <a:spcPts val="60"/>
              </a:spcBef>
              <a:buChar char="•"/>
              <a:tabLst>
                <a:tab pos="24130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Open-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source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web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application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that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allows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you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create/execute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live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4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Run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web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browsers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Support</a:t>
            </a:r>
            <a:r>
              <a:rPr sz="18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40+</a:t>
            </a:r>
            <a:r>
              <a:rPr sz="18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languages,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including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Python, R,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Julia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Scala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5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Why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Name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Jupyter?</a:t>
            </a:r>
            <a:endParaRPr sz="1800">
              <a:latin typeface="Arial"/>
              <a:cs typeface="Arial"/>
            </a:endParaRPr>
          </a:p>
          <a:p>
            <a:pPr marL="466725" marR="5080" lvl="1" indent="-228600">
              <a:lnSpc>
                <a:spcPct val="101699"/>
              </a:lnSpc>
              <a:spcBef>
                <a:spcPts val="10"/>
              </a:spcBef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Three</a:t>
            </a:r>
            <a:r>
              <a:rPr sz="1800" spc="-7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core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languages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supported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by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Jupyter –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Julia,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525254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5789" y="1296008"/>
            <a:ext cx="2942922" cy="3445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742" y="214629"/>
            <a:ext cx="67538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7185" algn="l"/>
              </a:tabLst>
            </a:pPr>
            <a:r>
              <a:rPr dirty="0"/>
              <a:t>Open/Execute</a:t>
            </a:r>
            <a:r>
              <a:rPr spc="-85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program</a:t>
            </a:r>
            <a:r>
              <a:rPr spc="-80" dirty="0"/>
              <a:t> </a:t>
            </a:r>
            <a:r>
              <a:rPr spc="-25" dirty="0"/>
              <a:t>in</a:t>
            </a:r>
            <a:r>
              <a:rPr dirty="0"/>
              <a:t>	Jupyter</a:t>
            </a:r>
            <a:r>
              <a:rPr spc="-55" dirty="0"/>
              <a:t> </a:t>
            </a:r>
            <a:r>
              <a:rPr spc="-10" dirty="0"/>
              <a:t>Notebook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1600200"/>
            <a:ext cx="3048000" cy="48097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73023" y="1014983"/>
            <a:ext cx="3048000" cy="585470"/>
          </a:xfrm>
          <a:prstGeom prst="rect">
            <a:avLst/>
          </a:prstGeom>
          <a:ln w="9525">
            <a:solidFill>
              <a:srgbClr val="525254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 marR="147955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Step</a:t>
            </a:r>
            <a:r>
              <a:rPr sz="1600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1</a:t>
            </a:r>
            <a:r>
              <a:rPr sz="16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Type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Jupyter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25254"/>
                </a:solidFill>
                <a:latin typeface="Arial"/>
                <a:cs typeface="Arial"/>
              </a:rPr>
              <a:t>Notebook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6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windows</a:t>
            </a:r>
            <a:r>
              <a:rPr sz="16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start</a:t>
            </a:r>
            <a:r>
              <a:rPr sz="16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25254"/>
                </a:solidFill>
                <a:latin typeface="Arial"/>
                <a:cs typeface="Arial"/>
              </a:rPr>
              <a:t>prompt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85271" y="959929"/>
            <a:ext cx="6191250" cy="2091689"/>
            <a:chOff x="4585271" y="959929"/>
            <a:chExt cx="6191250" cy="2091689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4860" y="1289303"/>
              <a:ext cx="6172199" cy="1752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90034" y="964691"/>
              <a:ext cx="6181725" cy="2082164"/>
            </a:xfrm>
            <a:custGeom>
              <a:avLst/>
              <a:gdLst/>
              <a:ahLst/>
              <a:cxnLst/>
              <a:rect l="l" t="t" r="r" b="b"/>
              <a:pathLst>
                <a:path w="6181725" h="2082164">
                  <a:moveTo>
                    <a:pt x="0" y="2082037"/>
                  </a:moveTo>
                  <a:lnTo>
                    <a:pt x="6181725" y="2082037"/>
                  </a:lnTo>
                  <a:lnTo>
                    <a:pt x="6181725" y="319912"/>
                  </a:lnTo>
                  <a:lnTo>
                    <a:pt x="0" y="319912"/>
                  </a:lnTo>
                  <a:lnTo>
                    <a:pt x="0" y="2082037"/>
                  </a:lnTo>
                  <a:close/>
                </a:path>
                <a:path w="6181725" h="2082164">
                  <a:moveTo>
                    <a:pt x="4825" y="338327"/>
                  </a:moveTo>
                  <a:lnTo>
                    <a:pt x="5809742" y="338327"/>
                  </a:lnTo>
                  <a:lnTo>
                    <a:pt x="5809742" y="0"/>
                  </a:lnTo>
                  <a:lnTo>
                    <a:pt x="4825" y="0"/>
                  </a:lnTo>
                  <a:lnTo>
                    <a:pt x="4825" y="338327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94796" y="992886"/>
            <a:ext cx="5800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Step</a:t>
            </a:r>
            <a:r>
              <a:rPr sz="16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2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–</a:t>
            </a:r>
            <a:r>
              <a:rPr sz="16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choose,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python3</a:t>
            </a:r>
            <a:r>
              <a:rPr sz="16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from</a:t>
            </a:r>
            <a:r>
              <a:rPr sz="16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25254"/>
                </a:solidFill>
                <a:latin typeface="Arial"/>
                <a:cs typeface="Arial"/>
              </a:rPr>
              <a:t>New</a:t>
            </a:r>
            <a:r>
              <a:rPr sz="1600" b="1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dropdown</a:t>
            </a:r>
            <a:r>
              <a:rPr sz="1600" spc="-25" dirty="0">
                <a:solidFill>
                  <a:srgbClr val="525254"/>
                </a:solidFill>
                <a:latin typeface="Arial"/>
                <a:cs typeface="Arial"/>
              </a:rPr>
              <a:t> box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06561" y="1981961"/>
            <a:ext cx="990600" cy="152400"/>
          </a:xfrm>
          <a:custGeom>
            <a:avLst/>
            <a:gdLst/>
            <a:ahLst/>
            <a:cxnLst/>
            <a:rect l="l" t="t" r="r" b="b"/>
            <a:pathLst>
              <a:path w="990600" h="152400">
                <a:moveTo>
                  <a:pt x="0" y="152400"/>
                </a:moveTo>
                <a:lnTo>
                  <a:pt x="990600" y="152400"/>
                </a:lnTo>
                <a:lnTo>
                  <a:pt x="9906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015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580953" y="3601021"/>
            <a:ext cx="5970270" cy="2459355"/>
            <a:chOff x="4580953" y="3601021"/>
            <a:chExt cx="5970270" cy="245935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4859" y="4191000"/>
              <a:ext cx="5946647" cy="18592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85715" y="3605784"/>
              <a:ext cx="5960745" cy="2449830"/>
            </a:xfrm>
            <a:custGeom>
              <a:avLst/>
              <a:gdLst/>
              <a:ahLst/>
              <a:cxnLst/>
              <a:rect l="l" t="t" r="r" b="b"/>
              <a:pathLst>
                <a:path w="5960745" h="2449829">
                  <a:moveTo>
                    <a:pt x="4318" y="2449258"/>
                  </a:moveTo>
                  <a:lnTo>
                    <a:pt x="5960491" y="2449258"/>
                  </a:lnTo>
                  <a:lnTo>
                    <a:pt x="5960491" y="580453"/>
                  </a:lnTo>
                  <a:lnTo>
                    <a:pt x="4318" y="580453"/>
                  </a:lnTo>
                  <a:lnTo>
                    <a:pt x="4318" y="2449258"/>
                  </a:lnTo>
                  <a:close/>
                </a:path>
                <a:path w="5960745" h="2449829">
                  <a:moveTo>
                    <a:pt x="0" y="585215"/>
                  </a:moveTo>
                  <a:lnTo>
                    <a:pt x="5585460" y="585215"/>
                  </a:lnTo>
                  <a:lnTo>
                    <a:pt x="5585460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94796" y="3635502"/>
            <a:ext cx="557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marR="3105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Step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–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Write</a:t>
            </a:r>
            <a:r>
              <a:rPr sz="16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sample</a:t>
            </a:r>
            <a:r>
              <a:rPr sz="16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program, and</a:t>
            </a:r>
            <a:r>
              <a:rPr sz="16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click</a:t>
            </a:r>
            <a:r>
              <a:rPr sz="16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run</a:t>
            </a:r>
            <a:r>
              <a:rPr sz="16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cell</a:t>
            </a:r>
            <a:r>
              <a:rPr sz="16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25254"/>
                </a:solidFill>
                <a:latin typeface="Arial"/>
                <a:cs typeface="Arial"/>
              </a:rPr>
              <a:t>run </a:t>
            </a:r>
            <a:r>
              <a:rPr sz="16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25254"/>
                </a:solidFill>
                <a:latin typeface="Arial"/>
                <a:cs typeface="Arial"/>
              </a:rPr>
              <a:t>program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58561" y="41917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31750">
            <a:solidFill>
              <a:srgbClr val="015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26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types</a:t>
            </a:r>
            <a:r>
              <a:rPr spc="-3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2855" y="1473708"/>
            <a:ext cx="2566670" cy="1541145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195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328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5303" y="1473708"/>
            <a:ext cx="2566670" cy="1541145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195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3285"/>
              </a:spcBef>
            </a:pPr>
            <a:r>
              <a:rPr sz="4000" spc="-20" dirty="0">
                <a:solidFill>
                  <a:srgbClr val="FFFFFF"/>
                </a:solidFill>
                <a:latin typeface="Arial"/>
                <a:cs typeface="Arial"/>
              </a:rPr>
              <a:t>List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7752" y="1473708"/>
            <a:ext cx="2566670" cy="1541145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195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328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Tuple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2855" y="3270503"/>
            <a:ext cx="2566670" cy="1539240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195" rIns="0" bIns="0" rtlCol="0">
            <a:spAutoFit/>
          </a:bodyPr>
          <a:lstStyle/>
          <a:p>
            <a:pPr marL="619760">
              <a:lnSpc>
                <a:spcPct val="100000"/>
              </a:lnSpc>
              <a:spcBef>
                <a:spcPts val="328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String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5303" y="3270503"/>
            <a:ext cx="2566670" cy="1539240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85"/>
              </a:spcBef>
            </a:pP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endParaRPr sz="4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7752" y="3270503"/>
            <a:ext cx="2566670" cy="1539240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19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328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Dictionary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8689" y="5376773"/>
            <a:ext cx="334772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5"/>
              </a:lnSpc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Refer</a:t>
            </a:r>
            <a:r>
              <a:rPr sz="1800" spc="-6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Basics.ipynb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25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dirty="0"/>
              <a:t>Datatypes</a:t>
            </a:r>
            <a:r>
              <a:rPr spc="-6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5901" y="1351914"/>
            <a:ext cx="10234930" cy="3509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Numbers</a:t>
            </a:r>
            <a:endParaRPr sz="2000">
              <a:latin typeface="Arial"/>
              <a:cs typeface="Arial"/>
            </a:endParaRPr>
          </a:p>
          <a:p>
            <a:pPr marL="254000" indent="-228600">
              <a:lnSpc>
                <a:spcPct val="100000"/>
              </a:lnSpc>
              <a:spcBef>
                <a:spcPts val="1660"/>
              </a:spcBef>
              <a:buChar char="•"/>
              <a:tabLst>
                <a:tab pos="2540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Integers,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floating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point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numbers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complex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numbers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falls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under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numbers</a:t>
            </a:r>
            <a:endParaRPr sz="1800">
              <a:latin typeface="Arial"/>
              <a:cs typeface="Arial"/>
            </a:endParaRPr>
          </a:p>
          <a:p>
            <a:pPr marL="254000">
              <a:lnSpc>
                <a:spcPct val="100000"/>
              </a:lnSpc>
              <a:spcBef>
                <a:spcPts val="40"/>
              </a:spcBef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category.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180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</a:pP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Strings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String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literals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surrounded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by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either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single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quotation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marks,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double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quotation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marks</a:t>
            </a:r>
            <a:endParaRPr sz="18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40"/>
              </a:spcBef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“Hello”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same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‘Hello’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does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character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data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type</a:t>
            </a:r>
            <a:endParaRPr sz="18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45"/>
              </a:spcBef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single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character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simply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string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with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length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4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Square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brackets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access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elements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string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884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35" dirty="0"/>
              <a:t> </a:t>
            </a:r>
            <a:r>
              <a:rPr dirty="0"/>
              <a:t>Indexes</a:t>
            </a:r>
            <a:r>
              <a:rPr spc="-15" dirty="0"/>
              <a:t> </a:t>
            </a:r>
            <a:r>
              <a:rPr dirty="0"/>
              <a:t>[Slicing</a:t>
            </a:r>
            <a:r>
              <a:rPr spc="-40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spc="-10" dirty="0"/>
              <a:t>colon]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413000" y="1841754"/>
          <a:ext cx="6915150" cy="353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7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93772" y="2365461"/>
          <a:ext cx="6695434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03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535"/>
                        </a:lnSpc>
                      </a:pP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535"/>
                        </a:lnSpc>
                      </a:pPr>
                      <a:r>
                        <a:rPr sz="1450" b="1" spc="-25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535"/>
                        </a:lnSpc>
                      </a:pPr>
                      <a:r>
                        <a:rPr sz="1450" b="1" spc="-25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630932" y="2910799"/>
          <a:ext cx="6588121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9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25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25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25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1535"/>
                        </a:lnSpc>
                      </a:pPr>
                      <a:r>
                        <a:rPr sz="1450" b="1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50" b="1" spc="-50" dirty="0">
                          <a:solidFill>
                            <a:srgbClr val="525254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248661" y="1791461"/>
            <a:ext cx="7543800" cy="1447800"/>
          </a:xfrm>
          <a:custGeom>
            <a:avLst/>
            <a:gdLst/>
            <a:ahLst/>
            <a:cxnLst/>
            <a:rect l="l" t="t" r="r" b="b"/>
            <a:pathLst>
              <a:path w="7543800" h="1447800">
                <a:moveTo>
                  <a:pt x="0" y="1447800"/>
                </a:moveTo>
                <a:lnTo>
                  <a:pt x="7543800" y="1447800"/>
                </a:lnTo>
                <a:lnTo>
                  <a:pt x="75438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ln w="25400">
            <a:solidFill>
              <a:srgbClr val="015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0476" y="3796284"/>
            <a:ext cx="5335905" cy="279082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3495" rIns="0" bIns="0" rtlCol="0">
            <a:spAutoFit/>
          </a:bodyPr>
          <a:lstStyle/>
          <a:p>
            <a:pPr marL="319405" marR="160020" indent="-229235">
              <a:lnSpc>
                <a:spcPct val="101699"/>
              </a:lnSpc>
              <a:spcBef>
                <a:spcPts val="185"/>
              </a:spcBef>
              <a:buChar char="•"/>
              <a:tabLst>
                <a:tab pos="31940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Square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brackets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access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elements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of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string</a:t>
            </a:r>
            <a:endParaRPr sz="1800">
              <a:latin typeface="Arial"/>
              <a:cs typeface="Arial"/>
            </a:endParaRPr>
          </a:p>
          <a:p>
            <a:pPr marL="319405" indent="-228600">
              <a:lnSpc>
                <a:spcPct val="100000"/>
              </a:lnSpc>
              <a:spcBef>
                <a:spcPts val="35"/>
              </a:spcBef>
              <a:buChar char="•"/>
              <a:tabLst>
                <a:tab pos="31940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Index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value starts from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0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n-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from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left to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319405" indent="-228600">
              <a:lnSpc>
                <a:spcPct val="100000"/>
              </a:lnSpc>
              <a:spcBef>
                <a:spcPts val="50"/>
              </a:spcBef>
              <a:buChar char="•"/>
              <a:tabLst>
                <a:tab pos="31940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also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got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negative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indexing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from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319405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left</a:t>
            </a:r>
            <a:endParaRPr sz="1800">
              <a:latin typeface="Arial"/>
              <a:cs typeface="Arial"/>
            </a:endParaRPr>
          </a:p>
          <a:p>
            <a:pPr marL="319405" indent="-228600">
              <a:lnSpc>
                <a:spcPct val="100000"/>
              </a:lnSpc>
              <a:spcBef>
                <a:spcPts val="35"/>
              </a:spcBef>
              <a:buChar char="•"/>
              <a:tabLst>
                <a:tab pos="31940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Slicing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slices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from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lower</a:t>
            </a:r>
            <a:r>
              <a:rPr sz="1800" spc="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limit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upper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limit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–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319405" indent="-228600">
              <a:lnSpc>
                <a:spcPct val="100000"/>
              </a:lnSpc>
              <a:spcBef>
                <a:spcPts val="45"/>
              </a:spcBef>
              <a:buChar char="•"/>
              <a:tabLst>
                <a:tab pos="31940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Step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size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mentioned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::&lt;Value&gt;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80707" y="3570223"/>
            <a:ext cx="2875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String</a:t>
            </a:r>
            <a:r>
              <a:rPr sz="2000" b="1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built</a:t>
            </a:r>
            <a:r>
              <a:rPr sz="2000" b="1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2000" b="1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functions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4219" y="4020311"/>
            <a:ext cx="3278504" cy="26854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7305" rIns="0" bIns="0" rtlCol="0">
            <a:spAutoFit/>
          </a:bodyPr>
          <a:lstStyle/>
          <a:p>
            <a:pPr marL="320040" indent="-227965">
              <a:lnSpc>
                <a:spcPct val="100000"/>
              </a:lnSpc>
              <a:spcBef>
                <a:spcPts val="215"/>
              </a:spcBef>
              <a:buChar char="•"/>
              <a:tabLst>
                <a:tab pos="32004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lower()</a:t>
            </a:r>
            <a:endParaRPr sz="1800">
              <a:latin typeface="Arial"/>
              <a:cs typeface="Arial"/>
            </a:endParaRPr>
          </a:p>
          <a:p>
            <a:pPr marL="320040" indent="-227965">
              <a:lnSpc>
                <a:spcPct val="100000"/>
              </a:lnSpc>
              <a:spcBef>
                <a:spcPts val="35"/>
              </a:spcBef>
              <a:buChar char="•"/>
              <a:tabLst>
                <a:tab pos="32004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upper()</a:t>
            </a:r>
            <a:endParaRPr sz="1800">
              <a:latin typeface="Arial"/>
              <a:cs typeface="Arial"/>
            </a:endParaRPr>
          </a:p>
          <a:p>
            <a:pPr marL="320040" indent="-227965">
              <a:lnSpc>
                <a:spcPct val="100000"/>
              </a:lnSpc>
              <a:spcBef>
                <a:spcPts val="40"/>
              </a:spcBef>
              <a:buChar char="•"/>
              <a:tabLst>
                <a:tab pos="32004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split()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30" dirty="0"/>
              <a:t> </a:t>
            </a:r>
            <a:r>
              <a:rPr dirty="0"/>
              <a:t>built</a:t>
            </a:r>
            <a:r>
              <a:rPr spc="-30" dirty="0"/>
              <a:t> </a:t>
            </a:r>
            <a:r>
              <a:rPr dirty="0"/>
              <a:t>in</a:t>
            </a:r>
            <a:r>
              <a:rPr spc="-10" dirty="0"/>
              <a:t> functions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5086" y="1285875"/>
            <a:ext cx="8924290" cy="4972050"/>
            <a:chOff x="315086" y="1285875"/>
            <a:chExt cx="8924290" cy="49720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147" y="1392306"/>
              <a:ext cx="8883196" cy="46622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849" y="1290637"/>
              <a:ext cx="8914765" cy="4962525"/>
            </a:xfrm>
            <a:custGeom>
              <a:avLst/>
              <a:gdLst/>
              <a:ahLst/>
              <a:cxnLst/>
              <a:rect l="l" t="t" r="r" b="b"/>
              <a:pathLst>
                <a:path w="8914765" h="4962525">
                  <a:moveTo>
                    <a:pt x="0" y="4962525"/>
                  </a:moveTo>
                  <a:lnTo>
                    <a:pt x="8914257" y="4962525"/>
                  </a:lnTo>
                  <a:lnTo>
                    <a:pt x="8914257" y="0"/>
                  </a:lnTo>
                  <a:lnTo>
                    <a:pt x="0" y="0"/>
                  </a:lnTo>
                  <a:lnTo>
                    <a:pt x="0" y="4962525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Taking</a:t>
            </a:r>
            <a:r>
              <a:rPr spc="-35" dirty="0"/>
              <a:t> </a:t>
            </a:r>
            <a:r>
              <a:rPr dirty="0"/>
              <a:t>Input</a:t>
            </a:r>
            <a:r>
              <a:rPr spc="-5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User</a:t>
            </a:r>
            <a:r>
              <a:rPr spc="-2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Implicit</a:t>
            </a:r>
            <a:r>
              <a:rPr spc="-70" dirty="0"/>
              <a:t> </a:t>
            </a:r>
            <a:r>
              <a:rPr dirty="0"/>
              <a:t>type</a:t>
            </a:r>
            <a:r>
              <a:rPr spc="-10" dirty="0"/>
              <a:t> conversion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8695" y="1197355"/>
            <a:ext cx="70300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provides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inbuilt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read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input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from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keyboard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9567" y="1810067"/>
            <a:ext cx="5956935" cy="2619375"/>
            <a:chOff x="1619567" y="1810067"/>
            <a:chExt cx="5956935" cy="26193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9156" y="1819655"/>
              <a:ext cx="5937504" cy="25638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24330" y="1814829"/>
              <a:ext cx="5947410" cy="2609850"/>
            </a:xfrm>
            <a:custGeom>
              <a:avLst/>
              <a:gdLst/>
              <a:ahLst/>
              <a:cxnLst/>
              <a:rect l="l" t="t" r="r" b="b"/>
              <a:pathLst>
                <a:path w="5947409" h="2609850">
                  <a:moveTo>
                    <a:pt x="0" y="2609469"/>
                  </a:moveTo>
                  <a:lnTo>
                    <a:pt x="5947029" y="2609469"/>
                  </a:lnTo>
                  <a:lnTo>
                    <a:pt x="5947029" y="0"/>
                  </a:lnTo>
                  <a:lnTo>
                    <a:pt x="0" y="0"/>
                  </a:lnTo>
                  <a:lnTo>
                    <a:pt x="0" y="2609469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4611" y="1851660"/>
            <a:ext cx="4399915" cy="608330"/>
          </a:xfrm>
          <a:custGeom>
            <a:avLst/>
            <a:gdLst/>
            <a:ahLst/>
            <a:cxnLst/>
            <a:rect l="l" t="t" r="r" b="b"/>
            <a:pathLst>
              <a:path w="4399915" h="608330">
                <a:moveTo>
                  <a:pt x="4298442" y="0"/>
                </a:moveTo>
                <a:lnTo>
                  <a:pt x="101346" y="0"/>
                </a:lnTo>
                <a:lnTo>
                  <a:pt x="61898" y="7959"/>
                </a:lnTo>
                <a:lnTo>
                  <a:pt x="29684" y="29670"/>
                </a:lnTo>
                <a:lnTo>
                  <a:pt x="7964" y="61882"/>
                </a:lnTo>
                <a:lnTo>
                  <a:pt x="0" y="101345"/>
                </a:lnTo>
                <a:lnTo>
                  <a:pt x="0" y="506729"/>
                </a:lnTo>
                <a:lnTo>
                  <a:pt x="7964" y="546193"/>
                </a:lnTo>
                <a:lnTo>
                  <a:pt x="29684" y="578405"/>
                </a:lnTo>
                <a:lnTo>
                  <a:pt x="61898" y="600116"/>
                </a:lnTo>
                <a:lnTo>
                  <a:pt x="101346" y="608076"/>
                </a:lnTo>
                <a:lnTo>
                  <a:pt x="4298442" y="608076"/>
                </a:lnTo>
                <a:lnTo>
                  <a:pt x="4337905" y="600116"/>
                </a:lnTo>
                <a:lnTo>
                  <a:pt x="4370117" y="578405"/>
                </a:lnTo>
                <a:lnTo>
                  <a:pt x="4391828" y="546193"/>
                </a:lnTo>
                <a:lnTo>
                  <a:pt x="4399788" y="506729"/>
                </a:lnTo>
                <a:lnTo>
                  <a:pt x="4399788" y="101345"/>
                </a:lnTo>
                <a:lnTo>
                  <a:pt x="4391828" y="61882"/>
                </a:lnTo>
                <a:lnTo>
                  <a:pt x="4370117" y="29670"/>
                </a:lnTo>
                <a:lnTo>
                  <a:pt x="4337905" y="7959"/>
                </a:lnTo>
                <a:lnTo>
                  <a:pt x="4298442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4611" y="2534411"/>
            <a:ext cx="4399915" cy="609600"/>
          </a:xfrm>
          <a:custGeom>
            <a:avLst/>
            <a:gdLst/>
            <a:ahLst/>
            <a:cxnLst/>
            <a:rect l="l" t="t" r="r" b="b"/>
            <a:pathLst>
              <a:path w="4399915" h="609600">
                <a:moveTo>
                  <a:pt x="4298188" y="0"/>
                </a:moveTo>
                <a:lnTo>
                  <a:pt x="101600" y="0"/>
                </a:lnTo>
                <a:lnTo>
                  <a:pt x="62054" y="7981"/>
                </a:lnTo>
                <a:lnTo>
                  <a:pt x="29759" y="29749"/>
                </a:lnTo>
                <a:lnTo>
                  <a:pt x="7984" y="62043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56"/>
                </a:lnTo>
                <a:lnTo>
                  <a:pt x="29759" y="579850"/>
                </a:lnTo>
                <a:lnTo>
                  <a:pt x="62054" y="601618"/>
                </a:lnTo>
                <a:lnTo>
                  <a:pt x="101600" y="609600"/>
                </a:lnTo>
                <a:lnTo>
                  <a:pt x="4298188" y="609600"/>
                </a:lnTo>
                <a:lnTo>
                  <a:pt x="4337744" y="601618"/>
                </a:lnTo>
                <a:lnTo>
                  <a:pt x="4370038" y="579850"/>
                </a:lnTo>
                <a:lnTo>
                  <a:pt x="4391806" y="547556"/>
                </a:lnTo>
                <a:lnTo>
                  <a:pt x="4399788" y="508000"/>
                </a:lnTo>
                <a:lnTo>
                  <a:pt x="4399788" y="101600"/>
                </a:lnTo>
                <a:lnTo>
                  <a:pt x="4391806" y="62043"/>
                </a:lnTo>
                <a:lnTo>
                  <a:pt x="4370038" y="29749"/>
                </a:lnTo>
                <a:lnTo>
                  <a:pt x="4337744" y="7981"/>
                </a:lnTo>
                <a:lnTo>
                  <a:pt x="4298188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4611" y="3218688"/>
            <a:ext cx="4399915" cy="608330"/>
          </a:xfrm>
          <a:custGeom>
            <a:avLst/>
            <a:gdLst/>
            <a:ahLst/>
            <a:cxnLst/>
            <a:rect l="l" t="t" r="r" b="b"/>
            <a:pathLst>
              <a:path w="4399915" h="608329">
                <a:moveTo>
                  <a:pt x="4298442" y="0"/>
                </a:moveTo>
                <a:lnTo>
                  <a:pt x="101346" y="0"/>
                </a:lnTo>
                <a:lnTo>
                  <a:pt x="61898" y="7959"/>
                </a:lnTo>
                <a:lnTo>
                  <a:pt x="29684" y="29670"/>
                </a:lnTo>
                <a:lnTo>
                  <a:pt x="7964" y="61882"/>
                </a:lnTo>
                <a:lnTo>
                  <a:pt x="0" y="101346"/>
                </a:lnTo>
                <a:lnTo>
                  <a:pt x="0" y="506730"/>
                </a:lnTo>
                <a:lnTo>
                  <a:pt x="7964" y="546193"/>
                </a:lnTo>
                <a:lnTo>
                  <a:pt x="29684" y="578405"/>
                </a:lnTo>
                <a:lnTo>
                  <a:pt x="61898" y="600116"/>
                </a:lnTo>
                <a:lnTo>
                  <a:pt x="101346" y="608076"/>
                </a:lnTo>
                <a:lnTo>
                  <a:pt x="4298442" y="608076"/>
                </a:lnTo>
                <a:lnTo>
                  <a:pt x="4337905" y="600116"/>
                </a:lnTo>
                <a:lnTo>
                  <a:pt x="4370117" y="578405"/>
                </a:lnTo>
                <a:lnTo>
                  <a:pt x="4391828" y="546193"/>
                </a:lnTo>
                <a:lnTo>
                  <a:pt x="4399788" y="506730"/>
                </a:lnTo>
                <a:lnTo>
                  <a:pt x="4399788" y="101346"/>
                </a:lnTo>
                <a:lnTo>
                  <a:pt x="4391828" y="61882"/>
                </a:lnTo>
                <a:lnTo>
                  <a:pt x="4370117" y="29670"/>
                </a:lnTo>
                <a:lnTo>
                  <a:pt x="4337905" y="7959"/>
                </a:lnTo>
                <a:lnTo>
                  <a:pt x="4298442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4611" y="3901440"/>
            <a:ext cx="4399915" cy="608330"/>
          </a:xfrm>
          <a:custGeom>
            <a:avLst/>
            <a:gdLst/>
            <a:ahLst/>
            <a:cxnLst/>
            <a:rect l="l" t="t" r="r" b="b"/>
            <a:pathLst>
              <a:path w="4399915" h="608329">
                <a:moveTo>
                  <a:pt x="4298442" y="0"/>
                </a:moveTo>
                <a:lnTo>
                  <a:pt x="101346" y="0"/>
                </a:lnTo>
                <a:lnTo>
                  <a:pt x="61898" y="7959"/>
                </a:lnTo>
                <a:lnTo>
                  <a:pt x="29684" y="29670"/>
                </a:lnTo>
                <a:lnTo>
                  <a:pt x="7964" y="61882"/>
                </a:lnTo>
                <a:lnTo>
                  <a:pt x="0" y="101346"/>
                </a:lnTo>
                <a:lnTo>
                  <a:pt x="0" y="506730"/>
                </a:lnTo>
                <a:lnTo>
                  <a:pt x="7964" y="546193"/>
                </a:lnTo>
                <a:lnTo>
                  <a:pt x="29684" y="578405"/>
                </a:lnTo>
                <a:lnTo>
                  <a:pt x="61898" y="600116"/>
                </a:lnTo>
                <a:lnTo>
                  <a:pt x="101346" y="608076"/>
                </a:lnTo>
                <a:lnTo>
                  <a:pt x="4298442" y="608076"/>
                </a:lnTo>
                <a:lnTo>
                  <a:pt x="4337905" y="600116"/>
                </a:lnTo>
                <a:lnTo>
                  <a:pt x="4370117" y="578405"/>
                </a:lnTo>
                <a:lnTo>
                  <a:pt x="4391828" y="546193"/>
                </a:lnTo>
                <a:lnTo>
                  <a:pt x="4399788" y="506730"/>
                </a:lnTo>
                <a:lnTo>
                  <a:pt x="4399788" y="101346"/>
                </a:lnTo>
                <a:lnTo>
                  <a:pt x="4391828" y="61882"/>
                </a:lnTo>
                <a:lnTo>
                  <a:pt x="4370117" y="29670"/>
                </a:lnTo>
                <a:lnTo>
                  <a:pt x="4337905" y="7959"/>
                </a:lnTo>
                <a:lnTo>
                  <a:pt x="4298442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4611" y="4585715"/>
            <a:ext cx="4399915" cy="608330"/>
          </a:xfrm>
          <a:custGeom>
            <a:avLst/>
            <a:gdLst/>
            <a:ahLst/>
            <a:cxnLst/>
            <a:rect l="l" t="t" r="r" b="b"/>
            <a:pathLst>
              <a:path w="4399915" h="608329">
                <a:moveTo>
                  <a:pt x="4298442" y="0"/>
                </a:moveTo>
                <a:lnTo>
                  <a:pt x="101346" y="0"/>
                </a:lnTo>
                <a:lnTo>
                  <a:pt x="61898" y="7959"/>
                </a:lnTo>
                <a:lnTo>
                  <a:pt x="29684" y="29670"/>
                </a:lnTo>
                <a:lnTo>
                  <a:pt x="7964" y="61882"/>
                </a:lnTo>
                <a:lnTo>
                  <a:pt x="0" y="101345"/>
                </a:lnTo>
                <a:lnTo>
                  <a:pt x="0" y="506729"/>
                </a:lnTo>
                <a:lnTo>
                  <a:pt x="7964" y="546193"/>
                </a:lnTo>
                <a:lnTo>
                  <a:pt x="29684" y="578405"/>
                </a:lnTo>
                <a:lnTo>
                  <a:pt x="61898" y="600116"/>
                </a:lnTo>
                <a:lnTo>
                  <a:pt x="101346" y="608075"/>
                </a:lnTo>
                <a:lnTo>
                  <a:pt x="4298442" y="608075"/>
                </a:lnTo>
                <a:lnTo>
                  <a:pt x="4337905" y="600116"/>
                </a:lnTo>
                <a:lnTo>
                  <a:pt x="4370117" y="578405"/>
                </a:lnTo>
                <a:lnTo>
                  <a:pt x="4391828" y="546193"/>
                </a:lnTo>
                <a:lnTo>
                  <a:pt x="4399788" y="506729"/>
                </a:lnTo>
                <a:lnTo>
                  <a:pt x="4399788" y="101345"/>
                </a:lnTo>
                <a:lnTo>
                  <a:pt x="4391828" y="61882"/>
                </a:lnTo>
                <a:lnTo>
                  <a:pt x="4370117" y="29670"/>
                </a:lnTo>
                <a:lnTo>
                  <a:pt x="4337905" y="7959"/>
                </a:lnTo>
                <a:lnTo>
                  <a:pt x="4298442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611" y="5268467"/>
            <a:ext cx="4399915" cy="608330"/>
          </a:xfrm>
          <a:custGeom>
            <a:avLst/>
            <a:gdLst/>
            <a:ahLst/>
            <a:cxnLst/>
            <a:rect l="l" t="t" r="r" b="b"/>
            <a:pathLst>
              <a:path w="4399915" h="608329">
                <a:moveTo>
                  <a:pt x="4298442" y="0"/>
                </a:moveTo>
                <a:lnTo>
                  <a:pt x="101346" y="0"/>
                </a:lnTo>
                <a:lnTo>
                  <a:pt x="61898" y="7959"/>
                </a:lnTo>
                <a:lnTo>
                  <a:pt x="29684" y="29670"/>
                </a:lnTo>
                <a:lnTo>
                  <a:pt x="7964" y="61882"/>
                </a:lnTo>
                <a:lnTo>
                  <a:pt x="0" y="101345"/>
                </a:lnTo>
                <a:lnTo>
                  <a:pt x="0" y="506729"/>
                </a:lnTo>
                <a:lnTo>
                  <a:pt x="7964" y="546177"/>
                </a:lnTo>
                <a:lnTo>
                  <a:pt x="29684" y="578391"/>
                </a:lnTo>
                <a:lnTo>
                  <a:pt x="61898" y="600111"/>
                </a:lnTo>
                <a:lnTo>
                  <a:pt x="101346" y="608075"/>
                </a:lnTo>
                <a:lnTo>
                  <a:pt x="4298442" y="608075"/>
                </a:lnTo>
                <a:lnTo>
                  <a:pt x="4337905" y="600111"/>
                </a:lnTo>
                <a:lnTo>
                  <a:pt x="4370117" y="578391"/>
                </a:lnTo>
                <a:lnTo>
                  <a:pt x="4391828" y="546177"/>
                </a:lnTo>
                <a:lnTo>
                  <a:pt x="4399788" y="506729"/>
                </a:lnTo>
                <a:lnTo>
                  <a:pt x="4399788" y="101345"/>
                </a:lnTo>
                <a:lnTo>
                  <a:pt x="4391828" y="61882"/>
                </a:lnTo>
                <a:lnTo>
                  <a:pt x="4370117" y="29670"/>
                </a:lnTo>
                <a:lnTo>
                  <a:pt x="4337905" y="7959"/>
                </a:lnTo>
                <a:lnTo>
                  <a:pt x="4298442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1198" y="351790"/>
            <a:ext cx="9071610" cy="540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2400">
              <a:latin typeface="Arial"/>
              <a:cs typeface="Arial"/>
            </a:endParaRPr>
          </a:p>
          <a:p>
            <a:pPr marL="240665" marR="5080" indent="-228600">
              <a:lnSpc>
                <a:spcPts val="1920"/>
              </a:lnSpc>
              <a:spcBef>
                <a:spcPts val="2335"/>
              </a:spcBef>
              <a:buClr>
                <a:srgbClr val="D3D3D3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solidFill>
                  <a:srgbClr val="525254"/>
                </a:solidFill>
                <a:latin typeface="Calibri"/>
                <a:cs typeface="Calibri"/>
              </a:rPr>
              <a:t>Operators</a:t>
            </a:r>
            <a:r>
              <a:rPr sz="2000" spc="-4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are</a:t>
            </a:r>
            <a:r>
              <a:rPr sz="2000" spc="-5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used</a:t>
            </a:r>
            <a:r>
              <a:rPr sz="2000" spc="-4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perform</a:t>
            </a:r>
            <a:r>
              <a:rPr sz="2000" spc="-6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Calibri"/>
                <a:cs typeface="Calibri"/>
              </a:rPr>
              <a:t>operations</a:t>
            </a:r>
            <a:r>
              <a:rPr sz="2000" spc="-5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on</a:t>
            </a:r>
            <a:r>
              <a:rPr sz="2000" spc="-5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Calibri"/>
                <a:cs typeface="Calibri"/>
              </a:rPr>
              <a:t>variables</a:t>
            </a:r>
            <a:r>
              <a:rPr sz="2000" spc="-4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values.</a:t>
            </a:r>
            <a:r>
              <a:rPr sz="2000" spc="-50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Python</a:t>
            </a:r>
            <a:r>
              <a:rPr sz="2000" spc="-7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divides</a:t>
            </a:r>
            <a:r>
              <a:rPr sz="2000" spc="-4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25254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525254"/>
                </a:solidFill>
                <a:latin typeface="Calibri"/>
                <a:cs typeface="Calibri"/>
              </a:rPr>
              <a:t>operators</a:t>
            </a:r>
            <a:r>
              <a:rPr sz="2000" spc="-3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4"/>
                </a:solidFill>
                <a:latin typeface="Calibri"/>
                <a:cs typeface="Calibri"/>
              </a:rPr>
              <a:t>following</a:t>
            </a:r>
            <a:r>
              <a:rPr sz="2000" spc="-55" dirty="0">
                <a:solidFill>
                  <a:srgbClr val="52525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Calibri"/>
                <a:cs typeface="Calibri"/>
              </a:rPr>
              <a:t>groups:</a:t>
            </a:r>
            <a:endParaRPr sz="2000">
              <a:latin typeface="Calibri"/>
              <a:cs typeface="Calibri"/>
            </a:endParaRPr>
          </a:p>
          <a:p>
            <a:pPr marL="211454" marR="5509260">
              <a:lnSpc>
                <a:spcPct val="172500"/>
              </a:lnSpc>
              <a:spcBef>
                <a:spcPts val="985"/>
              </a:spcBef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Arithmetic</a:t>
            </a:r>
            <a:r>
              <a:rPr sz="2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Operators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Assignment</a:t>
            </a:r>
            <a:r>
              <a:rPr sz="26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Operators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Comparison</a:t>
            </a:r>
            <a:r>
              <a:rPr sz="2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Operators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Logical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Operators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sz="2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Operators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Bitwise</a:t>
            </a:r>
            <a:r>
              <a:rPr sz="2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Operators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4611" y="5951220"/>
            <a:ext cx="4399915" cy="608330"/>
          </a:xfrm>
          <a:custGeom>
            <a:avLst/>
            <a:gdLst/>
            <a:ahLst/>
            <a:cxnLst/>
            <a:rect l="l" t="t" r="r" b="b"/>
            <a:pathLst>
              <a:path w="4399915" h="608329">
                <a:moveTo>
                  <a:pt x="4298442" y="0"/>
                </a:moveTo>
                <a:lnTo>
                  <a:pt x="101346" y="0"/>
                </a:lnTo>
                <a:lnTo>
                  <a:pt x="61898" y="7964"/>
                </a:lnTo>
                <a:lnTo>
                  <a:pt x="29684" y="29684"/>
                </a:lnTo>
                <a:lnTo>
                  <a:pt x="7964" y="61898"/>
                </a:lnTo>
                <a:lnTo>
                  <a:pt x="0" y="101345"/>
                </a:lnTo>
                <a:lnTo>
                  <a:pt x="0" y="506729"/>
                </a:lnTo>
                <a:lnTo>
                  <a:pt x="7964" y="546177"/>
                </a:lnTo>
                <a:lnTo>
                  <a:pt x="29684" y="578391"/>
                </a:lnTo>
                <a:lnTo>
                  <a:pt x="61898" y="600111"/>
                </a:lnTo>
                <a:lnTo>
                  <a:pt x="101346" y="608075"/>
                </a:lnTo>
                <a:lnTo>
                  <a:pt x="4298442" y="608075"/>
                </a:lnTo>
                <a:lnTo>
                  <a:pt x="4337905" y="600111"/>
                </a:lnTo>
                <a:lnTo>
                  <a:pt x="4370117" y="578391"/>
                </a:lnTo>
                <a:lnTo>
                  <a:pt x="4391828" y="546177"/>
                </a:lnTo>
                <a:lnTo>
                  <a:pt x="4399788" y="506729"/>
                </a:lnTo>
                <a:lnTo>
                  <a:pt x="4399788" y="101345"/>
                </a:lnTo>
                <a:lnTo>
                  <a:pt x="4391828" y="61898"/>
                </a:lnTo>
                <a:lnTo>
                  <a:pt x="4370117" y="29684"/>
                </a:lnTo>
                <a:lnTo>
                  <a:pt x="4337905" y="7964"/>
                </a:lnTo>
                <a:lnTo>
                  <a:pt x="4298442" y="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4832" y="6048247"/>
            <a:ext cx="28149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900" baseline="5341" dirty="0">
                <a:solidFill>
                  <a:srgbClr val="FFFFFF"/>
                </a:solidFill>
                <a:latin typeface="Arial"/>
                <a:cs typeface="Arial"/>
              </a:rPr>
              <a:t>Membership</a:t>
            </a:r>
            <a:r>
              <a:rPr sz="3900" spc="-127" baseline="53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spc="-2925" baseline="534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800" spc="-5" dirty="0">
                <a:solidFill>
                  <a:srgbClr val="525254"/>
                </a:solidFill>
                <a:latin typeface="Arial"/>
                <a:cs typeface="Arial"/>
              </a:rPr>
              <a:t>P</a:t>
            </a:r>
            <a:r>
              <a:rPr sz="800" spc="-15" dirty="0">
                <a:solidFill>
                  <a:srgbClr val="525254"/>
                </a:solidFill>
                <a:latin typeface="Arial"/>
                <a:cs typeface="Arial"/>
              </a:rPr>
              <a:t>y</a:t>
            </a:r>
            <a:r>
              <a:rPr sz="800" spc="-5" dirty="0">
                <a:solidFill>
                  <a:srgbClr val="525254"/>
                </a:solidFill>
                <a:latin typeface="Arial"/>
                <a:cs typeface="Arial"/>
              </a:rPr>
              <a:t>t</a:t>
            </a:r>
            <a:r>
              <a:rPr sz="800" dirty="0">
                <a:solidFill>
                  <a:srgbClr val="525254"/>
                </a:solidFill>
                <a:latin typeface="Arial"/>
                <a:cs typeface="Arial"/>
              </a:rPr>
              <a:t>h</a:t>
            </a:r>
            <a:r>
              <a:rPr sz="800" spc="-130" dirty="0">
                <a:solidFill>
                  <a:srgbClr val="525254"/>
                </a:solidFill>
                <a:latin typeface="Arial"/>
                <a:cs typeface="Arial"/>
              </a:rPr>
              <a:t>o</a:t>
            </a:r>
            <a:r>
              <a:rPr sz="3900" spc="-2010" baseline="534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800" dirty="0">
                <a:solidFill>
                  <a:srgbClr val="525254"/>
                </a:solidFill>
                <a:latin typeface="Arial"/>
                <a:cs typeface="Arial"/>
              </a:rPr>
              <a:t>n</a:t>
            </a:r>
            <a:r>
              <a:rPr sz="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25254"/>
                </a:solidFill>
                <a:latin typeface="Arial"/>
                <a:cs typeface="Arial"/>
              </a:rPr>
              <a:t>E</a:t>
            </a:r>
            <a:r>
              <a:rPr sz="800" spc="-305" dirty="0">
                <a:solidFill>
                  <a:srgbClr val="525254"/>
                </a:solidFill>
                <a:latin typeface="Arial"/>
                <a:cs typeface="Arial"/>
              </a:rPr>
              <a:t>s</a:t>
            </a:r>
            <a:r>
              <a:rPr sz="3900" spc="-1754" baseline="534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800" spc="-10" dirty="0">
                <a:solidFill>
                  <a:srgbClr val="525254"/>
                </a:solidFill>
                <a:latin typeface="Arial"/>
                <a:cs typeface="Arial"/>
              </a:rPr>
              <a:t>se</a:t>
            </a:r>
            <a:r>
              <a:rPr sz="800" spc="-165" dirty="0">
                <a:solidFill>
                  <a:srgbClr val="525254"/>
                </a:solidFill>
                <a:latin typeface="Arial"/>
                <a:cs typeface="Arial"/>
              </a:rPr>
              <a:t>n</a:t>
            </a:r>
            <a:r>
              <a:rPr sz="3900" spc="-1064" baseline="534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800" spc="-5" dirty="0">
                <a:solidFill>
                  <a:srgbClr val="525254"/>
                </a:solidFill>
                <a:latin typeface="Arial"/>
                <a:cs typeface="Arial"/>
              </a:rPr>
              <a:t>ti</a:t>
            </a:r>
            <a:r>
              <a:rPr sz="800" spc="-165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3900" spc="-1964" baseline="534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00" spc="-5" dirty="0">
                <a:solidFill>
                  <a:srgbClr val="525254"/>
                </a:solidFill>
                <a:latin typeface="Arial"/>
                <a:cs typeface="Arial"/>
              </a:rPr>
              <a:t>ls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7741" y="6014110"/>
            <a:ext cx="5772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FFFFFF"/>
                </a:solidFill>
                <a:latin typeface="Arial"/>
                <a:cs typeface="Arial"/>
              </a:rPr>
              <a:t>tors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835" y="6274104"/>
            <a:ext cx="14160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-25" dirty="0">
                <a:solidFill>
                  <a:srgbClr val="525254"/>
                </a:solidFill>
                <a:latin typeface="Arial"/>
                <a:cs typeface="Arial"/>
              </a:rPr>
              <a:t>17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810895"/>
            <a:ext cx="256730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Arithmetic</a:t>
            </a:r>
            <a:r>
              <a:rPr sz="2000" b="1" spc="-8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Char char="•"/>
              <a:tabLst>
                <a:tab pos="240665" algn="l"/>
                <a:tab pos="147574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Arithmetic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9586" y="1291793"/>
            <a:ext cx="7355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1278890" algn="l"/>
                <a:tab pos="2662555" algn="l"/>
                <a:tab pos="2891155" algn="l"/>
              </a:tabLst>
            </a:pP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with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75" baseline="1543" dirty="0">
                <a:solidFill>
                  <a:srgbClr val="525254"/>
                </a:solidFill>
                <a:latin typeface="Arial"/>
                <a:cs typeface="Arial"/>
              </a:rPr>
              <a:t>•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Comparison</a:t>
            </a:r>
            <a:r>
              <a:rPr sz="2700" spc="15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r>
              <a:rPr sz="2700" spc="44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2700" spc="30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2700" spc="44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2700" spc="37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spc="-15" baseline="1543" dirty="0">
                <a:solidFill>
                  <a:srgbClr val="525254"/>
                </a:solidFill>
                <a:latin typeface="Arial"/>
                <a:cs typeface="Arial"/>
              </a:rPr>
              <a:t>compare</a:t>
            </a:r>
            <a:endParaRPr sz="2700" baseline="154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668" y="1570990"/>
            <a:ext cx="9775190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  <a:tabLst>
                <a:tab pos="1015365" algn="l"/>
                <a:tab pos="1868805" algn="l"/>
                <a:tab pos="2249805" algn="l"/>
                <a:tab pos="3228340" algn="l"/>
                <a:tab pos="5309870" algn="l"/>
                <a:tab pos="6215380" algn="l"/>
                <a:tab pos="6526530" algn="l"/>
                <a:tab pos="7279640" algn="l"/>
                <a:tab pos="8172450" algn="l"/>
                <a:tab pos="8817610" algn="l"/>
                <a:tab pos="920305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numeric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values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perform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common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15" baseline="1543" dirty="0">
                <a:solidFill>
                  <a:srgbClr val="525254"/>
                </a:solidFill>
                <a:latin typeface="Arial"/>
                <a:cs typeface="Arial"/>
              </a:rPr>
              <a:t>values.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37" baseline="1543" dirty="0">
                <a:solidFill>
                  <a:srgbClr val="525254"/>
                </a:solidFill>
                <a:latin typeface="Arial"/>
                <a:cs typeface="Arial"/>
              </a:rPr>
              <a:t>It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15" baseline="1543" dirty="0">
                <a:solidFill>
                  <a:srgbClr val="525254"/>
                </a:solidFill>
                <a:latin typeface="Arial"/>
                <a:cs typeface="Arial"/>
              </a:rPr>
              <a:t>either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15" baseline="1543" dirty="0">
                <a:solidFill>
                  <a:srgbClr val="525254"/>
                </a:solidFill>
                <a:latin typeface="Arial"/>
                <a:cs typeface="Arial"/>
              </a:rPr>
              <a:t>returns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30" baseline="1543" dirty="0">
                <a:solidFill>
                  <a:srgbClr val="525254"/>
                </a:solidFill>
                <a:latin typeface="Arial"/>
                <a:cs typeface="Arial"/>
              </a:rPr>
              <a:t>True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37" baseline="1543" dirty="0">
                <a:solidFill>
                  <a:srgbClr val="525254"/>
                </a:solidFill>
                <a:latin typeface="Arial"/>
                <a:cs typeface="Arial"/>
              </a:rPr>
              <a:t>or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700" spc="-15" baseline="1543" dirty="0">
                <a:solidFill>
                  <a:srgbClr val="525254"/>
                </a:solidFill>
                <a:latin typeface="Arial"/>
                <a:cs typeface="Arial"/>
              </a:rPr>
              <a:t>False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mathematical</a:t>
            </a:r>
            <a:r>
              <a:rPr sz="18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operations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	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according</a:t>
            </a:r>
            <a:r>
              <a:rPr sz="2700" spc="-30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2700" spc="-52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baseline="1543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2700" spc="-30" baseline="1543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700" spc="-15" baseline="1543" dirty="0">
                <a:solidFill>
                  <a:srgbClr val="525254"/>
                </a:solidFill>
                <a:latin typeface="Arial"/>
                <a:cs typeface="Arial"/>
              </a:rPr>
              <a:t>condition.</a:t>
            </a:r>
            <a:endParaRPr sz="2700" baseline="1543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05928" y="2399792"/>
          <a:ext cx="3886200" cy="3277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Operator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20" dirty="0">
                          <a:latin typeface="Verdana"/>
                          <a:cs typeface="Verdana"/>
                        </a:rPr>
                        <a:t>Name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Examp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6350">
                        <a:lnSpc>
                          <a:spcPts val="1805"/>
                        </a:lnSpc>
                      </a:pPr>
                      <a:r>
                        <a:rPr sz="1600" b="1" spc="-25" dirty="0">
                          <a:latin typeface="Verdana"/>
                          <a:cs typeface="Verdana"/>
                        </a:rPr>
                        <a:t>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+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Addition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+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-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Subtraction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*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Multiplication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*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/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Division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%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Modulus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%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**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Exponentiation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**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759834" y="230200"/>
            <a:ext cx="2950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Operators</a:t>
            </a:r>
            <a:r>
              <a:rPr spc="-4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Python</a:t>
            </a:r>
          </a:p>
        </p:txBody>
      </p:sp>
      <p:sp>
        <p:nvSpPr>
          <p:cNvPr id="11" name="object 11"/>
          <p:cNvSpPr/>
          <p:nvPr/>
        </p:nvSpPr>
        <p:spPr>
          <a:xfrm>
            <a:off x="6336783" y="5087304"/>
            <a:ext cx="4288790" cy="594360"/>
          </a:xfrm>
          <a:custGeom>
            <a:avLst/>
            <a:gdLst/>
            <a:ahLst/>
            <a:cxnLst/>
            <a:rect l="l" t="t" r="r" b="b"/>
            <a:pathLst>
              <a:path w="4288790" h="594360">
                <a:moveTo>
                  <a:pt x="0" y="594267"/>
                </a:moveTo>
                <a:lnTo>
                  <a:pt x="4288493" y="594267"/>
                </a:lnTo>
                <a:lnTo>
                  <a:pt x="4288493" y="0"/>
                </a:lnTo>
                <a:lnTo>
                  <a:pt x="0" y="0"/>
                </a:lnTo>
                <a:lnTo>
                  <a:pt x="0" y="5942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324599" y="2403251"/>
          <a:ext cx="4288155" cy="3261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50" dirty="0">
                          <a:latin typeface="Verdana"/>
                          <a:cs typeface="Verdana"/>
                        </a:rPr>
                        <a:t>Operator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20" dirty="0">
                          <a:latin typeface="Verdana"/>
                          <a:cs typeface="Verdana"/>
                        </a:rPr>
                        <a:t>Name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75" dirty="0">
                          <a:latin typeface="Verdana"/>
                          <a:cs typeface="Verdana"/>
                        </a:rPr>
                        <a:t>Example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==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Equal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35" dirty="0">
                          <a:latin typeface="Verdana"/>
                          <a:cs typeface="Verdana"/>
                        </a:rPr>
                        <a:t>==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!=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5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equal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90" dirty="0">
                          <a:latin typeface="Verdana"/>
                          <a:cs typeface="Verdana"/>
                        </a:rPr>
                        <a:t>!=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0" dirty="0">
                          <a:latin typeface="Verdana"/>
                          <a:cs typeface="Verdana"/>
                        </a:rPr>
                        <a:t>&gt;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40" dirty="0">
                          <a:latin typeface="Verdana"/>
                          <a:cs typeface="Verdana"/>
                        </a:rPr>
                        <a:t>Greater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than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29" dirty="0">
                          <a:latin typeface="Verdana"/>
                          <a:cs typeface="Verdana"/>
                        </a:rPr>
                        <a:t>&gt;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Verdana"/>
                          <a:cs typeface="Verdana"/>
                        </a:rPr>
                        <a:t>&lt;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14" dirty="0">
                          <a:latin typeface="Verdana"/>
                          <a:cs typeface="Verdana"/>
                        </a:rPr>
                        <a:t>Less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than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29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&gt;=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74930">
                        <a:lnSpc>
                          <a:spcPts val="2290"/>
                        </a:lnSpc>
                      </a:pPr>
                      <a:r>
                        <a:rPr sz="1800" spc="-140" dirty="0">
                          <a:latin typeface="Verdana"/>
                          <a:cs typeface="Verdana"/>
                        </a:rPr>
                        <a:t>Greater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than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equal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to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35" dirty="0">
                          <a:latin typeface="Verdana"/>
                          <a:cs typeface="Verdana"/>
                        </a:rPr>
                        <a:t>&gt;=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755"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Verdana"/>
                          <a:cs typeface="Verdana"/>
                        </a:rPr>
                        <a:t>&lt;=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67030">
                        <a:lnSpc>
                          <a:spcPts val="2290"/>
                        </a:lnSpc>
                      </a:pPr>
                      <a:r>
                        <a:rPr sz="1800" spc="-114" dirty="0">
                          <a:latin typeface="Verdana"/>
                          <a:cs typeface="Verdana"/>
                        </a:rPr>
                        <a:t>Less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than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equal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to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165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35" dirty="0">
                          <a:latin typeface="Verdana"/>
                          <a:cs typeface="Verdana"/>
                        </a:rPr>
                        <a:t>&lt;=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054597" y="794765"/>
            <a:ext cx="27965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Comparison</a:t>
            </a:r>
            <a:r>
              <a:rPr sz="2000" b="1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835" y="6274104"/>
            <a:ext cx="14160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-25" dirty="0">
                <a:solidFill>
                  <a:srgbClr val="525254"/>
                </a:solidFill>
                <a:latin typeface="Arial"/>
                <a:cs typeface="Arial"/>
              </a:rPr>
              <a:t>18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810895"/>
            <a:ext cx="22021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Logical</a:t>
            </a:r>
            <a:r>
              <a:rPr sz="2000" b="1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068" y="1292097"/>
            <a:ext cx="4345305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0665" marR="5080" indent="-228600">
              <a:lnSpc>
                <a:spcPct val="101699"/>
              </a:lnSpc>
              <a:spcBef>
                <a:spcPts val="6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Logical</a:t>
            </a:r>
            <a:r>
              <a:rPr sz="1800" spc="2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r>
              <a:rPr sz="1800" spc="3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3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3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3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combine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conditional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statements: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59834" y="230200"/>
            <a:ext cx="2950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Operators</a:t>
            </a:r>
            <a:r>
              <a:rPr spc="-4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Python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49822" y="1283665"/>
            <a:ext cx="4705985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  <a:tab pos="1136015" algn="l"/>
                <a:tab pos="2272665" algn="l"/>
                <a:tab pos="2774315" algn="l"/>
                <a:tab pos="3441700" algn="l"/>
                <a:tab pos="380492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Bitwise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compare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(binary)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numbers: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4597" y="794765"/>
            <a:ext cx="2199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Bitwise</a:t>
            </a:r>
            <a:r>
              <a:rPr sz="2000" b="1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71982" y="2130425"/>
          <a:ext cx="4180203" cy="328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Operator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Example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48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and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16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both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statements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are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true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325755">
                        <a:lnSpc>
                          <a:spcPct val="100000"/>
                        </a:lnSpc>
                        <a:spcBef>
                          <a:spcPts val="409"/>
                        </a:spcBef>
                        <a:tabLst>
                          <a:tab pos="527685" algn="l"/>
                        </a:tabLst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5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	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&lt;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marR="26733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16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one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statements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true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5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or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x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not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Reverse</a:t>
                      </a:r>
                      <a:r>
                        <a:rPr sz="16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result,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returns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False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result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true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2228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not(x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5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&lt;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10)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8168513" y="5410428"/>
            <a:ext cx="2738755" cy="1076960"/>
          </a:xfrm>
          <a:custGeom>
            <a:avLst/>
            <a:gdLst/>
            <a:ahLst/>
            <a:cxnLst/>
            <a:rect l="l" t="t" r="r" b="b"/>
            <a:pathLst>
              <a:path w="2738754" h="1076960">
                <a:moveTo>
                  <a:pt x="2738754" y="0"/>
                </a:moveTo>
                <a:lnTo>
                  <a:pt x="0" y="0"/>
                </a:lnTo>
                <a:lnTo>
                  <a:pt x="0" y="1076959"/>
                </a:lnTo>
                <a:lnTo>
                  <a:pt x="2738754" y="1076959"/>
                </a:lnTo>
                <a:lnTo>
                  <a:pt x="27387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092825" y="1932432"/>
          <a:ext cx="4812665" cy="4549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marL="95885" marR="115570">
                        <a:lnSpc>
                          <a:spcPct val="100000"/>
                        </a:lnSpc>
                      </a:pPr>
                      <a:r>
                        <a:rPr sz="1600" b="1" spc="-20" dirty="0">
                          <a:latin typeface="Verdana"/>
                          <a:cs typeface="Verdana"/>
                        </a:rPr>
                        <a:t>Operat </a:t>
                      </a:r>
                      <a:r>
                        <a:rPr sz="1600" b="1" spc="-25" dirty="0">
                          <a:latin typeface="Verdana"/>
                          <a:cs typeface="Verdana"/>
                        </a:rPr>
                        <a:t>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20" dirty="0">
                          <a:latin typeface="Verdana"/>
                          <a:cs typeface="Verdana"/>
                        </a:rPr>
                        <a:t>Name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&amp;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AND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1936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Sets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each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both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are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|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206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Sets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each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one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two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^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XOR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224154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Sets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each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1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only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one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two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~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NOT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Inverts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all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bits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119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&lt;&lt;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223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Zero</a:t>
                      </a:r>
                      <a:r>
                        <a:rPr sz="16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fill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shift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4762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Shift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pushing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zeros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let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leftmost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fall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off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&gt;&gt;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Signed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shift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7653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Shift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pushing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copies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leftmost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bit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left,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let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rightmost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fall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off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835" y="6274104"/>
            <a:ext cx="14160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-25" dirty="0">
                <a:solidFill>
                  <a:srgbClr val="525254"/>
                </a:solidFill>
                <a:latin typeface="Arial"/>
                <a:cs typeface="Arial"/>
              </a:rPr>
              <a:t>19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810895"/>
            <a:ext cx="4345305" cy="1059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2000" b="1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Identity</a:t>
            </a:r>
            <a:r>
              <a:rPr sz="2000" b="1" spc="-6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  <a:p>
            <a:pPr marL="240665" marR="5080" indent="-228600">
              <a:lnSpc>
                <a:spcPct val="101699"/>
              </a:lnSpc>
              <a:spcBef>
                <a:spcPts val="1345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Logical</a:t>
            </a:r>
            <a:r>
              <a:rPr sz="1800" spc="2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r>
              <a:rPr sz="1800" spc="3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3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3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3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combine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conditional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statements: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59834" y="230200"/>
            <a:ext cx="2950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Operators</a:t>
            </a:r>
            <a:r>
              <a:rPr spc="-4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15914" y="742314"/>
            <a:ext cx="4742815" cy="1077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Membership</a:t>
            </a:r>
            <a:r>
              <a:rPr sz="2000" b="1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25254"/>
                </a:solidFill>
                <a:latin typeface="Arial"/>
                <a:cs typeface="Arial"/>
              </a:rPr>
              <a:t>Operator</a:t>
            </a:r>
            <a:endParaRPr sz="2000">
              <a:latin typeface="Arial"/>
              <a:cs typeface="Arial"/>
            </a:endParaRPr>
          </a:p>
          <a:p>
            <a:pPr marL="274955" marR="5080" indent="-228600">
              <a:lnSpc>
                <a:spcPct val="101699"/>
              </a:lnSpc>
              <a:spcBef>
                <a:spcPts val="1485"/>
              </a:spcBef>
              <a:buChar char="•"/>
              <a:tabLst>
                <a:tab pos="27495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Membership</a:t>
            </a:r>
            <a:r>
              <a:rPr sz="1800" spc="1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r>
              <a:rPr sz="1800" spc="1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1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1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1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test</a:t>
            </a:r>
            <a:r>
              <a:rPr sz="1800" spc="1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if</a:t>
            </a:r>
            <a:r>
              <a:rPr sz="1800" spc="1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sequence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presented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object.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35990" y="2647695"/>
          <a:ext cx="4114800" cy="2486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marL="95250" marR="13208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Verdana"/>
                          <a:cs typeface="Verdana"/>
                        </a:rPr>
                        <a:t>Oper </a:t>
                      </a:r>
                      <a:r>
                        <a:rPr sz="1600" b="1" spc="-20" dirty="0">
                          <a:latin typeface="Verdana"/>
                          <a:cs typeface="Verdana"/>
                        </a:rPr>
                        <a:t>ator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Example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31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3244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both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variables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are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same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object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31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not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marR="2076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both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variables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are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6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same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object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9220072" y="4227919"/>
            <a:ext cx="1250315" cy="1564640"/>
          </a:xfrm>
          <a:custGeom>
            <a:avLst/>
            <a:gdLst/>
            <a:ahLst/>
            <a:cxnLst/>
            <a:rect l="l" t="t" r="r" b="b"/>
            <a:pathLst>
              <a:path w="1250315" h="1564639">
                <a:moveTo>
                  <a:pt x="1249959" y="0"/>
                </a:moveTo>
                <a:lnTo>
                  <a:pt x="0" y="0"/>
                </a:lnTo>
                <a:lnTo>
                  <a:pt x="0" y="1564640"/>
                </a:lnTo>
                <a:lnTo>
                  <a:pt x="1249959" y="1564640"/>
                </a:lnTo>
                <a:lnTo>
                  <a:pt x="1249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473697" y="2409951"/>
          <a:ext cx="3992245" cy="337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95885" marR="83820">
                        <a:lnSpc>
                          <a:spcPct val="100000"/>
                        </a:lnSpc>
                      </a:pPr>
                      <a:r>
                        <a:rPr sz="1600" b="1" spc="-15" dirty="0">
                          <a:latin typeface="Verdana"/>
                          <a:cs typeface="Verdana"/>
                        </a:rPr>
                        <a:t>Opera </a:t>
                      </a:r>
                      <a:r>
                        <a:rPr sz="1600" b="1" spc="-25" dirty="0">
                          <a:latin typeface="Verdana"/>
                          <a:cs typeface="Verdana"/>
                        </a:rPr>
                        <a:t>tor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Example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16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in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1631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16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a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sequence</a:t>
                      </a:r>
                      <a:r>
                        <a:rPr sz="16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with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specified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present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object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40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in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6319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16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a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sequence</a:t>
                      </a:r>
                      <a:r>
                        <a:rPr sz="16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with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specified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not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present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object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501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dirty="0"/>
              <a:t>Assignment</a:t>
            </a:r>
            <a:r>
              <a:rPr spc="-50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3092" y="1090929"/>
            <a:ext cx="6421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Assignment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operators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assign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values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variables: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23895" y="1833626"/>
          <a:ext cx="5334000" cy="4391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pPr marL="95250">
                        <a:lnSpc>
                          <a:spcPts val="1805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Operator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805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Example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805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latin typeface="Verdana"/>
                          <a:cs typeface="Verdana"/>
                        </a:rPr>
                        <a:t>Same</a:t>
                      </a:r>
                      <a:r>
                        <a:rPr sz="1600" b="1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spc="-25" dirty="0">
                          <a:latin typeface="Verdana"/>
                          <a:cs typeface="Verdana"/>
                        </a:rPr>
                        <a:t>As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50" dirty="0"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+=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+=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+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*=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*=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 *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/=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/=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%=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%=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%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**=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**=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**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&amp;=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&amp;=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|=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|=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|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^=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^=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^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&gt;&gt;=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&gt;&gt;=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&gt;&gt;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&lt;&lt;=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&lt;&lt;=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&lt;&lt;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Conditional</a:t>
            </a:r>
            <a:r>
              <a:rPr spc="-55" dirty="0"/>
              <a:t> </a:t>
            </a:r>
            <a:r>
              <a:rPr dirty="0"/>
              <a:t>Statements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if,</a:t>
            </a:r>
            <a:r>
              <a:rPr spc="-40" dirty="0"/>
              <a:t> </a:t>
            </a:r>
            <a:r>
              <a:rPr dirty="0"/>
              <a:t>elif,</a:t>
            </a:r>
            <a:r>
              <a:rPr spc="-55" dirty="0"/>
              <a:t> </a:t>
            </a:r>
            <a:r>
              <a:rPr spc="-20" dirty="0"/>
              <a:t>else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338198"/>
            <a:ext cx="8507095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300" marR="5080" indent="-229235">
              <a:lnSpc>
                <a:spcPct val="101699"/>
              </a:lnSpc>
              <a:spcBef>
                <a:spcPts val="60"/>
              </a:spcBef>
              <a:buChar char="•"/>
              <a:tabLst>
                <a:tab pos="241300" algn="l"/>
                <a:tab pos="30543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If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Statement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decision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making.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will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run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body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code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only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when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IF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statement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true.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41002" y="2334323"/>
            <a:ext cx="4906645" cy="2704465"/>
            <a:chOff x="2941002" y="2334323"/>
            <a:chExt cx="4906645" cy="27044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0463" y="2343911"/>
              <a:ext cx="4887468" cy="24662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45764" y="2339085"/>
              <a:ext cx="4897120" cy="2694940"/>
            </a:xfrm>
            <a:custGeom>
              <a:avLst/>
              <a:gdLst/>
              <a:ahLst/>
              <a:cxnLst/>
              <a:rect l="l" t="t" r="r" b="b"/>
              <a:pathLst>
                <a:path w="4897120" h="2694940">
                  <a:moveTo>
                    <a:pt x="0" y="2694813"/>
                  </a:moveTo>
                  <a:lnTo>
                    <a:pt x="4896993" y="2694813"/>
                  </a:lnTo>
                  <a:lnTo>
                    <a:pt x="4896993" y="0"/>
                  </a:lnTo>
                  <a:lnTo>
                    <a:pt x="0" y="0"/>
                  </a:lnTo>
                  <a:lnTo>
                    <a:pt x="0" y="2694813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00"/>
              </a:spcBef>
            </a:pPr>
            <a:r>
              <a:rPr dirty="0"/>
              <a:t>Loops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300099"/>
            <a:ext cx="8966200" cy="33178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two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primitive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commands</a:t>
            </a:r>
            <a:endParaRPr sz="18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1080"/>
              </a:spcBef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while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endParaRPr sz="18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1080"/>
              </a:spcBef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08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While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execute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statements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long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condition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true</a:t>
            </a:r>
            <a:endParaRPr sz="1800">
              <a:latin typeface="Arial"/>
              <a:cs typeface="Arial"/>
            </a:endParaRPr>
          </a:p>
          <a:p>
            <a:pPr marL="241300" marR="5080" indent="-229235">
              <a:lnSpc>
                <a:spcPct val="150000"/>
              </a:lnSpc>
              <a:buChar char="•"/>
              <a:tabLst>
                <a:tab pos="241300" algn="l"/>
                <a:tab pos="12058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This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less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like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keyword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other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language,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we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execute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statements,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once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each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list,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tuple,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241300" marR="5080" indent="-229235">
              <a:lnSpc>
                <a:spcPct val="150000"/>
              </a:lnSpc>
              <a:spcBef>
                <a:spcPts val="5"/>
              </a:spcBef>
              <a:buChar char="•"/>
              <a:tabLst>
                <a:tab pos="241300" algn="l"/>
                <a:tab pos="12058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This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less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like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keyword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other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language,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we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execute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statements,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once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each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list,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tuple,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66620" y="3035300"/>
            <a:ext cx="7268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Collections</a:t>
            </a:r>
            <a:r>
              <a:rPr sz="3600" spc="-5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–</a:t>
            </a:r>
            <a:r>
              <a:rPr sz="3600" spc="-7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List,</a:t>
            </a:r>
            <a:r>
              <a:rPr sz="3600" spc="-65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29292A"/>
                </a:solidFill>
                <a:latin typeface="Calibri"/>
                <a:cs typeface="Calibri"/>
              </a:rPr>
              <a:t>Tuple,</a:t>
            </a:r>
            <a:r>
              <a:rPr sz="3600" spc="-9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Set,</a:t>
            </a:r>
            <a:r>
              <a:rPr sz="3600" spc="-8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29292A"/>
                </a:solidFill>
                <a:latin typeface="Calibri"/>
                <a:cs typeface="Calibri"/>
              </a:rPr>
              <a:t>Dictionary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Module</a:t>
            </a:r>
            <a:r>
              <a:rPr sz="3600" spc="-13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29292A"/>
                </a:solidFill>
                <a:latin typeface="Calibri"/>
                <a:cs typeface="Calibri"/>
              </a:rPr>
              <a:t>2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types</a:t>
            </a:r>
            <a:r>
              <a:rPr spc="-2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Python</a:t>
            </a:r>
            <a:r>
              <a:rPr spc="-6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spc="-10" dirty="0"/>
              <a:t>Revisited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600" y="2179320"/>
            <a:ext cx="2566670" cy="1539240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6559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3279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32047" y="2179320"/>
            <a:ext cx="2566670" cy="1539240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6559" rIns="0" bIns="0" rtlCol="0">
            <a:spAutoFit/>
          </a:bodyPr>
          <a:lstStyle/>
          <a:p>
            <a:pPr marL="959485">
              <a:lnSpc>
                <a:spcPct val="100000"/>
              </a:lnSpc>
              <a:spcBef>
                <a:spcPts val="3279"/>
              </a:spcBef>
            </a:pPr>
            <a:r>
              <a:rPr sz="4000" spc="-20" dirty="0">
                <a:solidFill>
                  <a:srgbClr val="FFFFFF"/>
                </a:solidFill>
                <a:latin typeface="Arial"/>
                <a:cs typeface="Arial"/>
              </a:rPr>
              <a:t>List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6020" y="2179320"/>
            <a:ext cx="2566670" cy="1539240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6559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3279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Tuple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" y="3974591"/>
            <a:ext cx="2566670" cy="1541145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830" rIns="0" bIns="0" rtlCol="0">
            <a:spAutoFit/>
          </a:bodyPr>
          <a:lstStyle/>
          <a:p>
            <a:pPr marL="620395">
              <a:lnSpc>
                <a:spcPct val="100000"/>
              </a:lnSpc>
              <a:spcBef>
                <a:spcPts val="3290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String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2047" y="3974591"/>
            <a:ext cx="2566670" cy="1541145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83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290"/>
              </a:spcBef>
            </a:pP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endParaRPr sz="4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6020" y="3974591"/>
            <a:ext cx="2566670" cy="1541145"/>
          </a:xfrm>
          <a:prstGeom prst="rect">
            <a:avLst/>
          </a:prstGeom>
          <a:solidFill>
            <a:srgbClr val="0473EA"/>
          </a:solidFill>
        </p:spPr>
        <p:txBody>
          <a:bodyPr vert="horz" wrap="square" lIns="0" tIns="41783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3290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Dictionary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3561" y="1905761"/>
            <a:ext cx="5638800" cy="3962400"/>
          </a:xfrm>
          <a:custGeom>
            <a:avLst/>
            <a:gdLst/>
            <a:ahLst/>
            <a:cxnLst/>
            <a:rect l="l" t="t" r="r" b="b"/>
            <a:pathLst>
              <a:path w="5638800" h="3962400">
                <a:moveTo>
                  <a:pt x="0" y="3962400"/>
                </a:moveTo>
                <a:lnTo>
                  <a:pt x="5638799" y="3962400"/>
                </a:lnTo>
                <a:lnTo>
                  <a:pt x="5638799" y="0"/>
                </a:lnTo>
                <a:lnTo>
                  <a:pt x="0" y="0"/>
                </a:lnTo>
                <a:lnTo>
                  <a:pt x="0" y="3962400"/>
                </a:lnTo>
                <a:close/>
              </a:path>
            </a:pathLst>
          </a:custGeom>
          <a:ln w="25400">
            <a:solidFill>
              <a:srgbClr val="0473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60" dirty="0"/>
              <a:t> </a:t>
            </a:r>
            <a:r>
              <a:rPr dirty="0"/>
              <a:t>Collections</a:t>
            </a:r>
            <a:r>
              <a:rPr spc="-80" dirty="0"/>
              <a:t> </a:t>
            </a:r>
            <a:r>
              <a:rPr spc="-10" dirty="0"/>
              <a:t>(Arrays)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266050"/>
            <a:ext cx="10198735" cy="3345179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650"/>
              </a:spcBef>
              <a:buChar char="•"/>
              <a:tabLst>
                <a:tab pos="240665" algn="l"/>
              </a:tabLst>
            </a:pP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There</a:t>
            </a:r>
            <a:r>
              <a:rPr sz="2400" spc="-7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2400" spc="-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four</a:t>
            </a:r>
            <a:r>
              <a:rPr sz="2400" spc="-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24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data</a:t>
            </a:r>
            <a:r>
              <a:rPr sz="2400" spc="-8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types</a:t>
            </a:r>
            <a:r>
              <a:rPr sz="2400" spc="-7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2400" spc="-7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2400" spc="-6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25254"/>
                </a:solidFill>
                <a:latin typeface="Arial"/>
                <a:cs typeface="Arial"/>
              </a:rPr>
              <a:t>programming</a:t>
            </a:r>
            <a:r>
              <a:rPr sz="2400" spc="-6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525254"/>
                </a:solidFill>
                <a:latin typeface="Arial"/>
                <a:cs typeface="Arial"/>
              </a:rPr>
              <a:t>language:</a:t>
            </a:r>
            <a:endParaRPr sz="24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466725" algn="l"/>
              </a:tabLst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List</a:t>
            </a:r>
            <a:r>
              <a:rPr sz="2000" b="1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20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ordered</a:t>
            </a:r>
            <a:r>
              <a:rPr sz="2000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changeable.</a:t>
            </a:r>
            <a:r>
              <a:rPr sz="2000" spc="-1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Allows</a:t>
            </a:r>
            <a:r>
              <a:rPr sz="20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duplicate</a:t>
            </a:r>
            <a:r>
              <a:rPr sz="20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members.</a:t>
            </a:r>
            <a:endParaRPr sz="20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466725" algn="l"/>
              </a:tabLst>
            </a:pPr>
            <a:r>
              <a:rPr sz="2000" b="1" spc="-20" dirty="0">
                <a:solidFill>
                  <a:srgbClr val="525254"/>
                </a:solidFill>
                <a:latin typeface="Arial"/>
                <a:cs typeface="Arial"/>
              </a:rPr>
              <a:t>Tuple</a:t>
            </a:r>
            <a:r>
              <a:rPr sz="2000" b="1" spc="-6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20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20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20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ordered</a:t>
            </a:r>
            <a:r>
              <a:rPr sz="2000" spc="-7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immutable.</a:t>
            </a:r>
            <a:r>
              <a:rPr sz="2000" spc="-1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Allows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duplicate</a:t>
            </a:r>
            <a:r>
              <a:rPr sz="20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members.</a:t>
            </a:r>
            <a:endParaRPr sz="2000">
              <a:latin typeface="Arial"/>
              <a:cs typeface="Arial"/>
            </a:endParaRPr>
          </a:p>
          <a:p>
            <a:pPr marL="466725" marR="900430" lvl="1" indent="-228600">
              <a:lnSpc>
                <a:spcPct val="150000"/>
              </a:lnSpc>
              <a:buFont typeface="Arial"/>
              <a:buChar char="•"/>
              <a:tabLst>
                <a:tab pos="466725" algn="l"/>
              </a:tabLst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Set</a:t>
            </a:r>
            <a:r>
              <a:rPr sz="2000" b="1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20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unordered</a:t>
            </a:r>
            <a:r>
              <a:rPr sz="2000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unindexed.</a:t>
            </a:r>
            <a:r>
              <a:rPr sz="2000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Does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20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allow</a:t>
            </a:r>
            <a:r>
              <a:rPr sz="20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duplicate members.</a:t>
            </a:r>
            <a:endParaRPr sz="2000">
              <a:latin typeface="Arial"/>
              <a:cs typeface="Arial"/>
            </a:endParaRPr>
          </a:p>
          <a:p>
            <a:pPr marL="466725" lvl="1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66725" algn="l"/>
              </a:tabLst>
            </a:pPr>
            <a:r>
              <a:rPr sz="2000" b="1" dirty="0">
                <a:solidFill>
                  <a:srgbClr val="525254"/>
                </a:solidFill>
                <a:latin typeface="Arial"/>
                <a:cs typeface="Arial"/>
              </a:rPr>
              <a:t>Dictionary</a:t>
            </a:r>
            <a:r>
              <a:rPr sz="2000" b="1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20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20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unordered,</a:t>
            </a:r>
            <a:r>
              <a:rPr sz="2000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changeable</a:t>
            </a:r>
            <a:r>
              <a:rPr sz="20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20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indexed.</a:t>
            </a:r>
            <a:r>
              <a:rPr sz="20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25254"/>
                </a:solidFill>
                <a:latin typeface="Arial"/>
                <a:cs typeface="Arial"/>
              </a:rPr>
              <a:t>No</a:t>
            </a: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 duplicate</a:t>
            </a:r>
            <a:endParaRPr sz="20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525254"/>
                </a:solidFill>
                <a:latin typeface="Arial"/>
                <a:cs typeface="Arial"/>
              </a:rPr>
              <a:t>members.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473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dirty="0"/>
              <a:t>Collection</a:t>
            </a:r>
            <a:r>
              <a:rPr spc="-55" dirty="0"/>
              <a:t> </a:t>
            </a:r>
            <a:r>
              <a:rPr dirty="0"/>
              <a:t>-</a:t>
            </a:r>
            <a:r>
              <a:rPr spc="-20" dirty="0"/>
              <a:t> List</a:t>
            </a:r>
          </a:p>
        </p:txBody>
      </p:sp>
      <p:sp>
        <p:nvSpPr>
          <p:cNvPr id="6" name="object 6"/>
          <p:cNvSpPr/>
          <p:nvPr/>
        </p:nvSpPr>
        <p:spPr>
          <a:xfrm>
            <a:off x="4046220" y="2118358"/>
            <a:ext cx="2440305" cy="4739640"/>
          </a:xfrm>
          <a:custGeom>
            <a:avLst/>
            <a:gdLst/>
            <a:ahLst/>
            <a:cxnLst/>
            <a:rect l="l" t="t" r="r" b="b"/>
            <a:pathLst>
              <a:path w="2440304" h="4739640">
                <a:moveTo>
                  <a:pt x="2439924" y="4739641"/>
                </a:moveTo>
                <a:lnTo>
                  <a:pt x="2439924" y="0"/>
                </a:lnTo>
                <a:lnTo>
                  <a:pt x="0" y="0"/>
                </a:lnTo>
                <a:lnTo>
                  <a:pt x="0" y="4739641"/>
                </a:lnTo>
              </a:path>
            </a:pathLst>
          </a:custGeom>
          <a:ln w="9525">
            <a:solidFill>
              <a:srgbClr val="0473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3974" y="1338198"/>
            <a:ext cx="8762365" cy="52235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300" marR="5080" indent="-228600">
              <a:lnSpc>
                <a:spcPct val="101699"/>
              </a:lnSpc>
              <a:spcBef>
                <a:spcPts val="6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List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collection,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1800" spc="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ordered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changeable,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list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using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square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brackets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spcBef>
                <a:spcPts val="2010"/>
              </a:spcBef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List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Access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/Slice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thru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list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Append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Insert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Remove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Modify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item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Pop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list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List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Concatenation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Count()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Index()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Reverse()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Sort()</a:t>
            </a:r>
            <a:endParaRPr sz="1800">
              <a:latin typeface="Arial"/>
              <a:cs typeface="Arial"/>
            </a:endParaRPr>
          </a:p>
          <a:p>
            <a:pPr marL="4070350" lvl="1" indent="-286385">
              <a:lnSpc>
                <a:spcPct val="100000"/>
              </a:lnSpc>
              <a:buChar char="•"/>
              <a:tabLst>
                <a:tab pos="407035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Clear()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3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6" name="object 6"/>
          <p:cNvSpPr/>
          <p:nvPr/>
        </p:nvSpPr>
        <p:spPr>
          <a:xfrm>
            <a:off x="3932046" y="5158930"/>
            <a:ext cx="5652135" cy="433070"/>
          </a:xfrm>
          <a:custGeom>
            <a:avLst/>
            <a:gdLst/>
            <a:ahLst/>
            <a:cxnLst/>
            <a:rect l="l" t="t" r="r" b="b"/>
            <a:pathLst>
              <a:path w="5652134" h="433070">
                <a:moveTo>
                  <a:pt x="5651754" y="0"/>
                </a:moveTo>
                <a:lnTo>
                  <a:pt x="0" y="0"/>
                </a:lnTo>
                <a:lnTo>
                  <a:pt x="0" y="433069"/>
                </a:lnTo>
                <a:lnTo>
                  <a:pt x="5651754" y="433069"/>
                </a:lnTo>
                <a:lnTo>
                  <a:pt x="56517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70064" y="1128522"/>
          <a:ext cx="8611234" cy="48901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2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pPr marL="95250">
                        <a:lnSpc>
                          <a:spcPts val="181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Method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81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5250">
                        <a:lnSpc>
                          <a:spcPts val="3275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append()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Adds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an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element at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end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list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95250">
                        <a:lnSpc>
                          <a:spcPts val="3279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clear()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Removes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all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elements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list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5250">
                        <a:lnSpc>
                          <a:spcPts val="3279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copy()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copy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list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95250">
                        <a:lnSpc>
                          <a:spcPts val="3279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count()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number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elements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specified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value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95250">
                        <a:lnSpc>
                          <a:spcPts val="3279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index()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marR="89090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Returns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index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first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element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6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value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95250">
                        <a:lnSpc>
                          <a:spcPts val="3279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7"/>
                        </a:rPr>
                        <a:t>insert()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Adds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an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element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at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position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5250">
                        <a:lnSpc>
                          <a:spcPts val="3279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pop()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Removes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element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at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position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434">
                <a:tc>
                  <a:txBody>
                    <a:bodyPr/>
                    <a:lstStyle/>
                    <a:p>
                      <a:pPr marL="95250">
                        <a:lnSpc>
                          <a:spcPts val="3285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remove()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Removes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item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specified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value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5250">
                        <a:lnSpc>
                          <a:spcPts val="3285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reverse()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Reverses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order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list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5250">
                        <a:lnSpc>
                          <a:spcPts val="3285"/>
                        </a:lnSpc>
                      </a:pPr>
                      <a:r>
                        <a:rPr sz="2800" u="sng" spc="-10" dirty="0">
                          <a:solidFill>
                            <a:srgbClr val="525254"/>
                          </a:solidFill>
                          <a:uFill>
                            <a:solidFill>
                              <a:srgbClr val="525254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sort()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Sorts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list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742" y="175386"/>
            <a:ext cx="816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Tuple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892809"/>
            <a:ext cx="1046162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629793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tuple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ordered,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unchangeable,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round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brackets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tuples.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5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Since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tuple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immutable,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we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cannot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modify,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add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after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tuple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created.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6632" y="2127504"/>
            <a:ext cx="2382520" cy="3002280"/>
          </a:xfrm>
          <a:prstGeom prst="rect">
            <a:avLst/>
          </a:prstGeom>
          <a:ln w="9525">
            <a:solidFill>
              <a:srgbClr val="0473EA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1005"/>
              </a:spcBef>
              <a:buChar char="•"/>
              <a:tabLst>
                <a:tab pos="37719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</a:t>
            </a:r>
            <a:r>
              <a:rPr sz="1800" spc="-6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Tuple</a:t>
            </a:r>
            <a:endParaRPr sz="1800">
              <a:latin typeface="Arial"/>
              <a:cs typeface="Arial"/>
            </a:endParaRPr>
          </a:p>
          <a:p>
            <a:pPr marL="377190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7719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Access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 marL="377190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7719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Tuple</a:t>
            </a:r>
            <a:r>
              <a:rPr sz="1800" spc="-1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Iterations</a:t>
            </a:r>
            <a:endParaRPr sz="1800">
              <a:latin typeface="Arial"/>
              <a:cs typeface="Arial"/>
            </a:endParaRPr>
          </a:p>
          <a:p>
            <a:pPr marL="377190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7719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Count()</a:t>
            </a:r>
            <a:endParaRPr sz="1800">
              <a:latin typeface="Arial"/>
              <a:cs typeface="Arial"/>
            </a:endParaRPr>
          </a:p>
          <a:p>
            <a:pPr marL="377190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7719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Index()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95455" y="1980755"/>
            <a:ext cx="6000750" cy="3295650"/>
            <a:chOff x="5295455" y="1980755"/>
            <a:chExt cx="6000750" cy="32956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5043" y="2022546"/>
              <a:ext cx="5981700" cy="31397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00217" y="1985517"/>
              <a:ext cx="5991225" cy="3286125"/>
            </a:xfrm>
            <a:custGeom>
              <a:avLst/>
              <a:gdLst/>
              <a:ahLst/>
              <a:cxnLst/>
              <a:rect l="l" t="t" r="r" b="b"/>
              <a:pathLst>
                <a:path w="5991225" h="3286125">
                  <a:moveTo>
                    <a:pt x="0" y="3286125"/>
                  </a:moveTo>
                  <a:lnTo>
                    <a:pt x="5991224" y="3286125"/>
                  </a:lnTo>
                  <a:lnTo>
                    <a:pt x="5991224" y="0"/>
                  </a:lnTo>
                  <a:lnTo>
                    <a:pt x="0" y="0"/>
                  </a:lnTo>
                  <a:lnTo>
                    <a:pt x="0" y="3286125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7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Tuple</a:t>
            </a:r>
            <a:r>
              <a:rPr spc="-55" dirty="0"/>
              <a:t> </a:t>
            </a:r>
            <a:r>
              <a:rPr dirty="0"/>
              <a:t>case</a:t>
            </a:r>
            <a:r>
              <a:rPr spc="-45" dirty="0"/>
              <a:t> </a:t>
            </a:r>
            <a:r>
              <a:rPr spc="-10" dirty="0"/>
              <a:t>study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622" y="1485903"/>
            <a:ext cx="6933821" cy="43532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742" y="214629"/>
            <a:ext cx="205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Collection</a:t>
            </a:r>
            <a:r>
              <a:rPr spc="-40" dirty="0"/>
              <a:t> </a:t>
            </a:r>
            <a:r>
              <a:rPr spc="-25" dirty="0"/>
              <a:t>Set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8695" y="941323"/>
            <a:ext cx="945896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set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1800" spc="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unordered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unindexed.</a:t>
            </a:r>
            <a:r>
              <a:rPr sz="1800" spc="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sets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written</a:t>
            </a:r>
            <a:r>
              <a:rPr sz="1800" spc="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with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curly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brackets.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5532" y="1837944"/>
            <a:ext cx="1811020" cy="3970020"/>
          </a:xfrm>
          <a:prstGeom prst="rect">
            <a:avLst/>
          </a:prstGeom>
          <a:ln w="9525">
            <a:solidFill>
              <a:srgbClr val="0473EA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77825" indent="-287020">
              <a:lnSpc>
                <a:spcPct val="100000"/>
              </a:lnSpc>
              <a:spcBef>
                <a:spcPts val="315"/>
              </a:spcBef>
              <a:buChar char="•"/>
              <a:tabLst>
                <a:tab pos="3778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set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3778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Acess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Add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length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Remove</a:t>
            </a:r>
            <a:endParaRPr sz="18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</a:pP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discard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pop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set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Union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intersection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issubset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Issuperset</a:t>
            </a:r>
            <a:endParaRPr sz="1800">
              <a:latin typeface="Arial"/>
              <a:cs typeface="Arial"/>
            </a:endParaRPr>
          </a:p>
          <a:p>
            <a:pPr marL="377825" indent="-287020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update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Dictionary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047115"/>
            <a:ext cx="8555355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300" marR="5080" indent="-229235">
              <a:lnSpc>
                <a:spcPct val="101699"/>
              </a:lnSpc>
              <a:spcBef>
                <a:spcPts val="6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dictionary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collection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unordered,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changeable and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indexed.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Python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dictionaries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written</a:t>
            </a:r>
            <a:r>
              <a:rPr sz="1800" spc="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with curly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brackets,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they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keys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values.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23142" y="1832991"/>
            <a:ext cx="5778500" cy="4667250"/>
            <a:chOff x="4823142" y="1832991"/>
            <a:chExt cx="5778500" cy="46672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1543" y="1859357"/>
              <a:ext cx="5700256" cy="44882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27904" y="1837753"/>
              <a:ext cx="5768975" cy="4657725"/>
            </a:xfrm>
            <a:custGeom>
              <a:avLst/>
              <a:gdLst/>
              <a:ahLst/>
              <a:cxnLst/>
              <a:rect l="l" t="t" r="r" b="b"/>
              <a:pathLst>
                <a:path w="5768975" h="4657725">
                  <a:moveTo>
                    <a:pt x="0" y="4657725"/>
                  </a:moveTo>
                  <a:lnTo>
                    <a:pt x="5768721" y="4657725"/>
                  </a:lnTo>
                  <a:lnTo>
                    <a:pt x="5768721" y="0"/>
                  </a:lnTo>
                  <a:lnTo>
                    <a:pt x="0" y="0"/>
                  </a:lnTo>
                  <a:lnTo>
                    <a:pt x="0" y="4657725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72539" y="3243072"/>
            <a:ext cx="1963420" cy="923925"/>
          </a:xfrm>
          <a:prstGeom prst="rect">
            <a:avLst/>
          </a:prstGeom>
          <a:ln w="9525">
            <a:solidFill>
              <a:srgbClr val="0473EA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77190" indent="-287020">
              <a:lnSpc>
                <a:spcPct val="100000"/>
              </a:lnSpc>
              <a:spcBef>
                <a:spcPts val="315"/>
              </a:spcBef>
              <a:buChar char="•"/>
              <a:tabLst>
                <a:tab pos="37719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create</a:t>
            </a:r>
            <a:endParaRPr sz="1800">
              <a:latin typeface="Arial"/>
              <a:cs typeface="Arial"/>
            </a:endParaRPr>
          </a:p>
          <a:p>
            <a:pPr marL="377190" indent="-287020">
              <a:lnSpc>
                <a:spcPct val="100000"/>
              </a:lnSpc>
              <a:buChar char="•"/>
              <a:tabLst>
                <a:tab pos="37719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Acess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values</a:t>
            </a:r>
            <a:endParaRPr sz="1800">
              <a:latin typeface="Arial"/>
              <a:cs typeface="Arial"/>
            </a:endParaRPr>
          </a:p>
          <a:p>
            <a:pPr marL="377190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377190" algn="l"/>
              </a:tabLst>
            </a:pP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73373" y="3504438"/>
            <a:ext cx="1323975" cy="76200"/>
          </a:xfrm>
          <a:custGeom>
            <a:avLst/>
            <a:gdLst/>
            <a:ahLst/>
            <a:cxnLst/>
            <a:rect l="l" t="t" r="r" b="b"/>
            <a:pathLst>
              <a:path w="1323975" h="76200">
                <a:moveTo>
                  <a:pt x="1247648" y="0"/>
                </a:moveTo>
                <a:lnTo>
                  <a:pt x="1247648" y="76200"/>
                </a:lnTo>
                <a:lnTo>
                  <a:pt x="1298448" y="50800"/>
                </a:lnTo>
                <a:lnTo>
                  <a:pt x="1260348" y="50800"/>
                </a:lnTo>
                <a:lnTo>
                  <a:pt x="1260348" y="25400"/>
                </a:lnTo>
                <a:lnTo>
                  <a:pt x="1298448" y="25400"/>
                </a:lnTo>
                <a:lnTo>
                  <a:pt x="1247648" y="0"/>
                </a:lnTo>
                <a:close/>
              </a:path>
              <a:path w="1323975" h="76200">
                <a:moveTo>
                  <a:pt x="124764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247648" y="50800"/>
                </a:lnTo>
                <a:lnTo>
                  <a:pt x="1247648" y="25400"/>
                </a:lnTo>
                <a:close/>
              </a:path>
              <a:path w="1323975" h="76200">
                <a:moveTo>
                  <a:pt x="1298448" y="25400"/>
                </a:moveTo>
                <a:lnTo>
                  <a:pt x="1260348" y="25400"/>
                </a:lnTo>
                <a:lnTo>
                  <a:pt x="1260348" y="50800"/>
                </a:lnTo>
                <a:lnTo>
                  <a:pt x="1298448" y="50800"/>
                </a:lnTo>
                <a:lnTo>
                  <a:pt x="1323848" y="38100"/>
                </a:lnTo>
                <a:lnTo>
                  <a:pt x="1298448" y="2540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Dictionary</a:t>
            </a:r>
            <a:r>
              <a:rPr spc="-105" dirty="0"/>
              <a:t> </a:t>
            </a:r>
            <a:r>
              <a:rPr spc="-10" dirty="0"/>
              <a:t>continued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383847" y="1080135"/>
            <a:ext cx="4649470" cy="5629275"/>
            <a:chOff x="5383847" y="1080135"/>
            <a:chExt cx="4649470" cy="5629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2488" y="1127757"/>
              <a:ext cx="4610858" cy="557174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88609" y="1084897"/>
              <a:ext cx="4639945" cy="5619750"/>
            </a:xfrm>
            <a:custGeom>
              <a:avLst/>
              <a:gdLst/>
              <a:ahLst/>
              <a:cxnLst/>
              <a:rect l="l" t="t" r="r" b="b"/>
              <a:pathLst>
                <a:path w="4639945" h="5619750">
                  <a:moveTo>
                    <a:pt x="0" y="5619369"/>
                  </a:moveTo>
                  <a:lnTo>
                    <a:pt x="4639437" y="5619369"/>
                  </a:lnTo>
                  <a:lnTo>
                    <a:pt x="4639437" y="0"/>
                  </a:lnTo>
                  <a:lnTo>
                    <a:pt x="0" y="0"/>
                  </a:lnTo>
                  <a:lnTo>
                    <a:pt x="0" y="5619369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42288" y="2648711"/>
            <a:ext cx="2743200" cy="2308860"/>
          </a:xfrm>
          <a:prstGeom prst="rect">
            <a:avLst/>
          </a:prstGeom>
          <a:ln w="9525">
            <a:solidFill>
              <a:srgbClr val="0473EA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78460" marR="542290" indent="-287020">
              <a:lnSpc>
                <a:spcPct val="100000"/>
              </a:lnSpc>
              <a:spcBef>
                <a:spcPts val="315"/>
              </a:spcBef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Loop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iems() function</a:t>
            </a:r>
            <a:endParaRPr sz="1800">
              <a:latin typeface="Arial"/>
              <a:cs typeface="Arial"/>
            </a:endParaRPr>
          </a:p>
          <a:p>
            <a:pPr marL="378460" indent="-286385">
              <a:lnSpc>
                <a:spcPct val="100000"/>
              </a:lnSpc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Add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378460" indent="-286385">
              <a:lnSpc>
                <a:spcPct val="100000"/>
              </a:lnSpc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Remove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</a:pP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pair</a:t>
            </a:r>
            <a:endParaRPr sz="1800">
              <a:latin typeface="Arial"/>
              <a:cs typeface="Arial"/>
            </a:endParaRPr>
          </a:p>
          <a:p>
            <a:pPr marL="378460" indent="-286385">
              <a:lnSpc>
                <a:spcPct val="100000"/>
              </a:lnSpc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Pop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last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marL="378460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value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pair</a:t>
            </a:r>
            <a:endParaRPr sz="1800">
              <a:latin typeface="Arial"/>
              <a:cs typeface="Arial"/>
            </a:endParaRPr>
          </a:p>
          <a:p>
            <a:pPr marL="378460" indent="-286385">
              <a:lnSpc>
                <a:spcPct val="100000"/>
              </a:lnSpc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dictionary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02073" y="3533394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800" y="0"/>
                </a:moveTo>
                <a:lnTo>
                  <a:pt x="685800" y="76199"/>
                </a:lnTo>
                <a:lnTo>
                  <a:pt x="736600" y="50800"/>
                </a:lnTo>
                <a:lnTo>
                  <a:pt x="698500" y="50800"/>
                </a:lnTo>
                <a:lnTo>
                  <a:pt x="698500" y="25400"/>
                </a:lnTo>
                <a:lnTo>
                  <a:pt x="736600" y="25400"/>
                </a:lnTo>
                <a:lnTo>
                  <a:pt x="685800" y="0"/>
                </a:lnTo>
                <a:close/>
              </a:path>
              <a:path w="762000" h="76200">
                <a:moveTo>
                  <a:pt x="6858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85800" y="50800"/>
                </a:lnTo>
                <a:lnTo>
                  <a:pt x="685800" y="25400"/>
                </a:lnTo>
                <a:close/>
              </a:path>
              <a:path w="762000" h="76200">
                <a:moveTo>
                  <a:pt x="736600" y="25400"/>
                </a:moveTo>
                <a:lnTo>
                  <a:pt x="698500" y="25400"/>
                </a:lnTo>
                <a:lnTo>
                  <a:pt x="698500" y="50800"/>
                </a:lnTo>
                <a:lnTo>
                  <a:pt x="736600" y="50800"/>
                </a:lnTo>
                <a:lnTo>
                  <a:pt x="762000" y="38100"/>
                </a:lnTo>
                <a:lnTo>
                  <a:pt x="736600" y="25400"/>
                </a:lnTo>
                <a:close/>
              </a:path>
            </a:pathLst>
          </a:custGeom>
          <a:solidFill>
            <a:srgbClr val="0473E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85817" y="3035300"/>
            <a:ext cx="283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File</a:t>
            </a:r>
            <a:r>
              <a:rPr sz="3600" spc="-10" dirty="0">
                <a:solidFill>
                  <a:srgbClr val="29292A"/>
                </a:solidFill>
                <a:latin typeface="Calibri"/>
                <a:cs typeface="Calibri"/>
              </a:rPr>
              <a:t> Operations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Module</a:t>
            </a:r>
            <a:r>
              <a:rPr sz="3600" spc="-13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29292A"/>
                </a:solidFill>
                <a:latin typeface="Calibri"/>
                <a:cs typeface="Calibri"/>
              </a:rPr>
              <a:t>3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spc="-20" dirty="0"/>
              <a:t> </a:t>
            </a:r>
            <a:r>
              <a:rPr dirty="0"/>
              <a:t>Handling</a:t>
            </a:r>
            <a:r>
              <a:rPr spc="-20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338198"/>
            <a:ext cx="835342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provides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inbuilt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creating,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writing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reading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files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5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several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functions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creating,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reading,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updating,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deleting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files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5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Build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open()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files,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returns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two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parameters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: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name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Mode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3048000"/>
            <a:ext cx="8458200" cy="2862580"/>
          </a:xfrm>
          <a:prstGeom prst="rect">
            <a:avLst/>
          </a:prstGeom>
          <a:solidFill>
            <a:srgbClr val="E6E7E8"/>
          </a:solidFill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There</a:t>
            </a:r>
            <a:r>
              <a:rPr sz="1800" spc="-7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four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different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modes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while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opening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files:</a:t>
            </a:r>
            <a:endParaRPr sz="1800">
              <a:latin typeface="Arial"/>
              <a:cs typeface="Arial"/>
            </a:endParaRPr>
          </a:p>
          <a:p>
            <a:pPr marL="91440" marR="325120">
              <a:lnSpc>
                <a:spcPct val="200100"/>
              </a:lnSpc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"r"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Read</a:t>
            </a:r>
            <a:r>
              <a:rPr sz="1800" b="1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value.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reading,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error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if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does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exist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"a"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Append</a:t>
            </a:r>
            <a:r>
              <a:rPr sz="1800" b="1" spc="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appending,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creates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if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does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exist</a:t>
            </a:r>
            <a:r>
              <a:rPr sz="1800" spc="50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"w" -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Write</a:t>
            </a:r>
            <a:r>
              <a:rPr sz="1800" b="1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writing,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if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does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exist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"x"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25254"/>
                </a:solidFill>
                <a:latin typeface="Arial"/>
                <a:cs typeface="Arial"/>
              </a:rPr>
              <a:t>Create</a:t>
            </a:r>
            <a:r>
              <a:rPr sz="1800" b="1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Creates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specified file,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returns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error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if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file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exists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885690" y="3035300"/>
            <a:ext cx="182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29292A"/>
                </a:solidFill>
                <a:latin typeface="Calibri"/>
                <a:cs typeface="Calibri"/>
              </a:rPr>
              <a:t>Functions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Module</a:t>
            </a:r>
            <a:r>
              <a:rPr sz="3600" spc="-13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29292A"/>
                </a:solidFill>
                <a:latin typeface="Calibri"/>
                <a:cs typeface="Calibri"/>
              </a:rPr>
              <a:t>4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150384" y="3758103"/>
            <a:ext cx="1801495" cy="1360170"/>
            <a:chOff x="1150384" y="3758103"/>
            <a:chExt cx="1801495" cy="1360170"/>
          </a:xfrm>
        </p:grpSpPr>
        <p:sp>
          <p:nvSpPr>
            <p:cNvPr id="6" name="object 6"/>
            <p:cNvSpPr/>
            <p:nvPr/>
          </p:nvSpPr>
          <p:spPr>
            <a:xfrm>
              <a:off x="1156734" y="3764453"/>
              <a:ext cx="1788795" cy="1347470"/>
            </a:xfrm>
            <a:custGeom>
              <a:avLst/>
              <a:gdLst/>
              <a:ahLst/>
              <a:cxnLst/>
              <a:rect l="l" t="t" r="r" b="b"/>
              <a:pathLst>
                <a:path w="1788795" h="1347470">
                  <a:moveTo>
                    <a:pt x="1393678" y="28"/>
                  </a:moveTo>
                  <a:lnTo>
                    <a:pt x="1349839" y="3723"/>
                  </a:lnTo>
                  <a:lnTo>
                    <a:pt x="1307635" y="17144"/>
                  </a:lnTo>
                  <a:lnTo>
                    <a:pt x="1268765" y="40150"/>
                  </a:lnTo>
                  <a:lnTo>
                    <a:pt x="1234929" y="72596"/>
                  </a:lnTo>
                  <a:lnTo>
                    <a:pt x="1221552" y="56545"/>
                  </a:lnTo>
                  <a:lnTo>
                    <a:pt x="1189941" y="29680"/>
                  </a:lnTo>
                  <a:lnTo>
                    <a:pt x="1126220" y="3049"/>
                  </a:lnTo>
                  <a:lnTo>
                    <a:pt x="1079505" y="0"/>
                  </a:lnTo>
                  <a:lnTo>
                    <a:pt x="1034222" y="9192"/>
                  </a:lnTo>
                  <a:lnTo>
                    <a:pt x="992674" y="29835"/>
                  </a:lnTo>
                  <a:lnTo>
                    <a:pt x="957167" y="61139"/>
                  </a:lnTo>
                  <a:lnTo>
                    <a:pt x="930002" y="102314"/>
                  </a:lnTo>
                  <a:lnTo>
                    <a:pt x="918199" y="91228"/>
                  </a:lnTo>
                  <a:lnTo>
                    <a:pt x="878694" y="63706"/>
                  </a:lnTo>
                  <a:lnTo>
                    <a:pt x="837341" y="46320"/>
                  </a:lnTo>
                  <a:lnTo>
                    <a:pt x="794757" y="38007"/>
                  </a:lnTo>
                  <a:lnTo>
                    <a:pt x="752140" y="38389"/>
                  </a:lnTo>
                  <a:lnTo>
                    <a:pt x="710689" y="47085"/>
                  </a:lnTo>
                  <a:lnTo>
                    <a:pt x="671601" y="63718"/>
                  </a:lnTo>
                  <a:lnTo>
                    <a:pt x="636075" y="87906"/>
                  </a:lnTo>
                  <a:lnTo>
                    <a:pt x="605308" y="119271"/>
                  </a:lnTo>
                  <a:lnTo>
                    <a:pt x="580498" y="157432"/>
                  </a:lnTo>
                  <a:lnTo>
                    <a:pt x="538558" y="136821"/>
                  </a:lnTo>
                  <a:lnTo>
                    <a:pt x="494154" y="123698"/>
                  </a:lnTo>
                  <a:lnTo>
                    <a:pt x="448249" y="118267"/>
                  </a:lnTo>
                  <a:lnTo>
                    <a:pt x="401809" y="120729"/>
                  </a:lnTo>
                  <a:lnTo>
                    <a:pt x="357429" y="130715"/>
                  </a:lnTo>
                  <a:lnTo>
                    <a:pt x="316284" y="147427"/>
                  </a:lnTo>
                  <a:lnTo>
                    <a:pt x="278869" y="170200"/>
                  </a:lnTo>
                  <a:lnTo>
                    <a:pt x="245676" y="198368"/>
                  </a:lnTo>
                  <a:lnTo>
                    <a:pt x="217199" y="231267"/>
                  </a:lnTo>
                  <a:lnTo>
                    <a:pt x="193929" y="268231"/>
                  </a:lnTo>
                  <a:lnTo>
                    <a:pt x="176361" y="308596"/>
                  </a:lnTo>
                  <a:lnTo>
                    <a:pt x="164988" y="351695"/>
                  </a:lnTo>
                  <a:lnTo>
                    <a:pt x="160301" y="396863"/>
                  </a:lnTo>
                  <a:lnTo>
                    <a:pt x="162795" y="443436"/>
                  </a:lnTo>
                  <a:lnTo>
                    <a:pt x="161271" y="447627"/>
                  </a:lnTo>
                  <a:lnTo>
                    <a:pt x="119962" y="457152"/>
                  </a:lnTo>
                  <a:lnTo>
                    <a:pt x="82449" y="476107"/>
                  </a:lnTo>
                  <a:lnTo>
                    <a:pt x="50193" y="503492"/>
                  </a:lnTo>
                  <a:lnTo>
                    <a:pt x="24657" y="538305"/>
                  </a:lnTo>
                  <a:lnTo>
                    <a:pt x="6060" y="584195"/>
                  </a:lnTo>
                  <a:lnTo>
                    <a:pt x="0" y="631862"/>
                  </a:lnTo>
                  <a:lnTo>
                    <a:pt x="5864" y="678894"/>
                  </a:lnTo>
                  <a:lnTo>
                    <a:pt x="23043" y="722879"/>
                  </a:lnTo>
                  <a:lnTo>
                    <a:pt x="50923" y="761402"/>
                  </a:lnTo>
                  <a:lnTo>
                    <a:pt x="88894" y="792051"/>
                  </a:lnTo>
                  <a:lnTo>
                    <a:pt x="65311" y="824236"/>
                  </a:lnTo>
                  <a:lnTo>
                    <a:pt x="49256" y="860457"/>
                  </a:lnTo>
                  <a:lnTo>
                    <a:pt x="41161" y="899368"/>
                  </a:lnTo>
                  <a:lnTo>
                    <a:pt x="41459" y="939625"/>
                  </a:lnTo>
                  <a:lnTo>
                    <a:pt x="53440" y="987576"/>
                  </a:lnTo>
                  <a:lnTo>
                    <a:pt x="76505" y="1029184"/>
                  </a:lnTo>
                  <a:lnTo>
                    <a:pt x="108750" y="1062911"/>
                  </a:lnTo>
                  <a:lnTo>
                    <a:pt x="148273" y="1087218"/>
                  </a:lnTo>
                  <a:lnTo>
                    <a:pt x="193169" y="1100569"/>
                  </a:lnTo>
                  <a:lnTo>
                    <a:pt x="241535" y="1101423"/>
                  </a:lnTo>
                  <a:lnTo>
                    <a:pt x="244837" y="1107265"/>
                  </a:lnTo>
                  <a:lnTo>
                    <a:pt x="272131" y="1147087"/>
                  </a:lnTo>
                  <a:lnTo>
                    <a:pt x="303962" y="1181509"/>
                  </a:lnTo>
                  <a:lnTo>
                    <a:pt x="339653" y="1210359"/>
                  </a:lnTo>
                  <a:lnTo>
                    <a:pt x="378526" y="1233462"/>
                  </a:lnTo>
                  <a:lnTo>
                    <a:pt x="419905" y="1250648"/>
                  </a:lnTo>
                  <a:lnTo>
                    <a:pt x="463112" y="1261741"/>
                  </a:lnTo>
                  <a:lnTo>
                    <a:pt x="507469" y="1266571"/>
                  </a:lnTo>
                  <a:lnTo>
                    <a:pt x="552300" y="1264963"/>
                  </a:lnTo>
                  <a:lnTo>
                    <a:pt x="596927" y="1256745"/>
                  </a:lnTo>
                  <a:lnTo>
                    <a:pt x="640673" y="1241744"/>
                  </a:lnTo>
                  <a:lnTo>
                    <a:pt x="682860" y="1219787"/>
                  </a:lnTo>
                  <a:lnTo>
                    <a:pt x="712959" y="1258397"/>
                  </a:lnTo>
                  <a:lnTo>
                    <a:pt x="748773" y="1290923"/>
                  </a:lnTo>
                  <a:lnTo>
                    <a:pt x="789445" y="1316710"/>
                  </a:lnTo>
                  <a:lnTo>
                    <a:pt x="834117" y="1335103"/>
                  </a:lnTo>
                  <a:lnTo>
                    <a:pt x="878518" y="1345007"/>
                  </a:lnTo>
                  <a:lnTo>
                    <a:pt x="922697" y="1347395"/>
                  </a:lnTo>
                  <a:lnTo>
                    <a:pt x="965939" y="1342663"/>
                  </a:lnTo>
                  <a:lnTo>
                    <a:pt x="1007528" y="1331206"/>
                  </a:lnTo>
                  <a:lnTo>
                    <a:pt x="1046747" y="1313418"/>
                  </a:lnTo>
                  <a:lnTo>
                    <a:pt x="1082880" y="1289694"/>
                  </a:lnTo>
                  <a:lnTo>
                    <a:pt x="1115210" y="1260429"/>
                  </a:lnTo>
                  <a:lnTo>
                    <a:pt x="1143022" y="1226018"/>
                  </a:lnTo>
                  <a:lnTo>
                    <a:pt x="1165599" y="1186854"/>
                  </a:lnTo>
                  <a:lnTo>
                    <a:pt x="1182224" y="1143333"/>
                  </a:lnTo>
                  <a:lnTo>
                    <a:pt x="1211248" y="1159167"/>
                  </a:lnTo>
                  <a:lnTo>
                    <a:pt x="1242009" y="1170750"/>
                  </a:lnTo>
                  <a:lnTo>
                    <a:pt x="1274057" y="1177927"/>
                  </a:lnTo>
                  <a:lnTo>
                    <a:pt x="1306938" y="1180544"/>
                  </a:lnTo>
                  <a:lnTo>
                    <a:pt x="1355175" y="1175933"/>
                  </a:lnTo>
                  <a:lnTo>
                    <a:pt x="1400180" y="1161991"/>
                  </a:lnTo>
                  <a:lnTo>
                    <a:pt x="1440982" y="1139696"/>
                  </a:lnTo>
                  <a:lnTo>
                    <a:pt x="1476610" y="1110028"/>
                  </a:lnTo>
                  <a:lnTo>
                    <a:pt x="1506095" y="1073966"/>
                  </a:lnTo>
                  <a:lnTo>
                    <a:pt x="1528466" y="1032490"/>
                  </a:lnTo>
                  <a:lnTo>
                    <a:pt x="1542752" y="986579"/>
                  </a:lnTo>
                  <a:lnTo>
                    <a:pt x="1547984" y="937212"/>
                  </a:lnTo>
                  <a:lnTo>
                    <a:pt x="1583231" y="929594"/>
                  </a:lnTo>
                  <a:lnTo>
                    <a:pt x="1649104" y="901119"/>
                  </a:lnTo>
                  <a:lnTo>
                    <a:pt x="1712752" y="849166"/>
                  </a:lnTo>
                  <a:lnTo>
                    <a:pt x="1740489" y="813568"/>
                  </a:lnTo>
                  <a:lnTo>
                    <a:pt x="1762028" y="774608"/>
                  </a:lnTo>
                  <a:lnTo>
                    <a:pt x="1777264" y="733112"/>
                  </a:lnTo>
                  <a:lnTo>
                    <a:pt x="1786093" y="689912"/>
                  </a:lnTo>
                  <a:lnTo>
                    <a:pt x="1788411" y="645835"/>
                  </a:lnTo>
                  <a:lnTo>
                    <a:pt x="1784114" y="601711"/>
                  </a:lnTo>
                  <a:lnTo>
                    <a:pt x="1773096" y="558368"/>
                  </a:lnTo>
                  <a:lnTo>
                    <a:pt x="1755254" y="516637"/>
                  </a:lnTo>
                  <a:lnTo>
                    <a:pt x="1730483" y="477345"/>
                  </a:lnTo>
                  <a:lnTo>
                    <a:pt x="1733410" y="470059"/>
                  </a:lnTo>
                  <a:lnTo>
                    <a:pt x="1736087" y="462677"/>
                  </a:lnTo>
                  <a:lnTo>
                    <a:pt x="1738502" y="455200"/>
                  </a:lnTo>
                  <a:lnTo>
                    <a:pt x="1740643" y="447627"/>
                  </a:lnTo>
                  <a:lnTo>
                    <a:pt x="1747998" y="402297"/>
                  </a:lnTo>
                  <a:lnTo>
                    <a:pt x="1746475" y="357729"/>
                  </a:lnTo>
                  <a:lnTo>
                    <a:pt x="1736698" y="315046"/>
                  </a:lnTo>
                  <a:lnTo>
                    <a:pt x="1719291" y="275368"/>
                  </a:lnTo>
                  <a:lnTo>
                    <a:pt x="1694877" y="239815"/>
                  </a:lnTo>
                  <a:lnTo>
                    <a:pt x="1664080" y="209508"/>
                  </a:lnTo>
                  <a:lnTo>
                    <a:pt x="1627523" y="185569"/>
                  </a:lnTo>
                  <a:lnTo>
                    <a:pt x="1585830" y="169116"/>
                  </a:lnTo>
                  <a:lnTo>
                    <a:pt x="1576752" y="134821"/>
                  </a:lnTo>
                  <a:lnTo>
                    <a:pt x="1542450" y="73944"/>
                  </a:lnTo>
                  <a:lnTo>
                    <a:pt x="1479465" y="22384"/>
                  </a:lnTo>
                  <a:lnTo>
                    <a:pt x="1437453" y="6201"/>
                  </a:lnTo>
                  <a:lnTo>
                    <a:pt x="1393678" y="28"/>
                  </a:lnTo>
                  <a:close/>
                </a:path>
              </a:pathLst>
            </a:custGeom>
            <a:solidFill>
              <a:srgbClr val="0473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6734" y="3764453"/>
              <a:ext cx="1788795" cy="1347470"/>
            </a:xfrm>
            <a:custGeom>
              <a:avLst/>
              <a:gdLst/>
              <a:ahLst/>
              <a:cxnLst/>
              <a:rect l="l" t="t" r="r" b="b"/>
              <a:pathLst>
                <a:path w="1788795" h="1347470">
                  <a:moveTo>
                    <a:pt x="162795" y="443436"/>
                  </a:moveTo>
                  <a:lnTo>
                    <a:pt x="160301" y="396863"/>
                  </a:lnTo>
                  <a:lnTo>
                    <a:pt x="164988" y="351695"/>
                  </a:lnTo>
                  <a:lnTo>
                    <a:pt x="176361" y="308596"/>
                  </a:lnTo>
                  <a:lnTo>
                    <a:pt x="193929" y="268231"/>
                  </a:lnTo>
                  <a:lnTo>
                    <a:pt x="217199" y="231267"/>
                  </a:lnTo>
                  <a:lnTo>
                    <a:pt x="245676" y="198368"/>
                  </a:lnTo>
                  <a:lnTo>
                    <a:pt x="278869" y="170200"/>
                  </a:lnTo>
                  <a:lnTo>
                    <a:pt x="316284" y="147427"/>
                  </a:lnTo>
                  <a:lnTo>
                    <a:pt x="357429" y="130715"/>
                  </a:lnTo>
                  <a:lnTo>
                    <a:pt x="401809" y="120729"/>
                  </a:lnTo>
                  <a:lnTo>
                    <a:pt x="448249" y="118267"/>
                  </a:lnTo>
                  <a:lnTo>
                    <a:pt x="494154" y="123698"/>
                  </a:lnTo>
                  <a:lnTo>
                    <a:pt x="538558" y="136821"/>
                  </a:lnTo>
                  <a:lnTo>
                    <a:pt x="580498" y="157432"/>
                  </a:lnTo>
                  <a:lnTo>
                    <a:pt x="605308" y="119271"/>
                  </a:lnTo>
                  <a:lnTo>
                    <a:pt x="636075" y="87906"/>
                  </a:lnTo>
                  <a:lnTo>
                    <a:pt x="671601" y="63718"/>
                  </a:lnTo>
                  <a:lnTo>
                    <a:pt x="710689" y="47085"/>
                  </a:lnTo>
                  <a:lnTo>
                    <a:pt x="752140" y="38389"/>
                  </a:lnTo>
                  <a:lnTo>
                    <a:pt x="794757" y="38007"/>
                  </a:lnTo>
                  <a:lnTo>
                    <a:pt x="837341" y="46320"/>
                  </a:lnTo>
                  <a:lnTo>
                    <a:pt x="878694" y="63706"/>
                  </a:lnTo>
                  <a:lnTo>
                    <a:pt x="918199" y="91228"/>
                  </a:lnTo>
                  <a:lnTo>
                    <a:pt x="930002" y="102314"/>
                  </a:lnTo>
                  <a:lnTo>
                    <a:pt x="957167" y="61139"/>
                  </a:lnTo>
                  <a:lnTo>
                    <a:pt x="992674" y="29835"/>
                  </a:lnTo>
                  <a:lnTo>
                    <a:pt x="1034222" y="9192"/>
                  </a:lnTo>
                  <a:lnTo>
                    <a:pt x="1079505" y="0"/>
                  </a:lnTo>
                  <a:lnTo>
                    <a:pt x="1126220" y="3049"/>
                  </a:lnTo>
                  <a:lnTo>
                    <a:pt x="1172064" y="19129"/>
                  </a:lnTo>
                  <a:lnTo>
                    <a:pt x="1206497" y="42196"/>
                  </a:lnTo>
                  <a:lnTo>
                    <a:pt x="1234929" y="72596"/>
                  </a:lnTo>
                  <a:lnTo>
                    <a:pt x="1268765" y="40150"/>
                  </a:lnTo>
                  <a:lnTo>
                    <a:pt x="1307635" y="17144"/>
                  </a:lnTo>
                  <a:lnTo>
                    <a:pt x="1349839" y="3723"/>
                  </a:lnTo>
                  <a:lnTo>
                    <a:pt x="1393678" y="28"/>
                  </a:lnTo>
                  <a:lnTo>
                    <a:pt x="1437453" y="6201"/>
                  </a:lnTo>
                  <a:lnTo>
                    <a:pt x="1479465" y="22384"/>
                  </a:lnTo>
                  <a:lnTo>
                    <a:pt x="1518012" y="48720"/>
                  </a:lnTo>
                  <a:lnTo>
                    <a:pt x="1562161" y="102870"/>
                  </a:lnTo>
                  <a:lnTo>
                    <a:pt x="1585830" y="169116"/>
                  </a:lnTo>
                  <a:lnTo>
                    <a:pt x="1627523" y="185569"/>
                  </a:lnTo>
                  <a:lnTo>
                    <a:pt x="1664080" y="209508"/>
                  </a:lnTo>
                  <a:lnTo>
                    <a:pt x="1694877" y="239815"/>
                  </a:lnTo>
                  <a:lnTo>
                    <a:pt x="1719291" y="275368"/>
                  </a:lnTo>
                  <a:lnTo>
                    <a:pt x="1736698" y="315046"/>
                  </a:lnTo>
                  <a:lnTo>
                    <a:pt x="1746475" y="357729"/>
                  </a:lnTo>
                  <a:lnTo>
                    <a:pt x="1747998" y="402297"/>
                  </a:lnTo>
                  <a:lnTo>
                    <a:pt x="1740643" y="447627"/>
                  </a:lnTo>
                  <a:lnTo>
                    <a:pt x="1738502" y="455200"/>
                  </a:lnTo>
                  <a:lnTo>
                    <a:pt x="1736087" y="462677"/>
                  </a:lnTo>
                  <a:lnTo>
                    <a:pt x="1733410" y="470059"/>
                  </a:lnTo>
                  <a:lnTo>
                    <a:pt x="1730483" y="477345"/>
                  </a:lnTo>
                  <a:lnTo>
                    <a:pt x="1755254" y="516637"/>
                  </a:lnTo>
                  <a:lnTo>
                    <a:pt x="1773096" y="558368"/>
                  </a:lnTo>
                  <a:lnTo>
                    <a:pt x="1784114" y="601711"/>
                  </a:lnTo>
                  <a:lnTo>
                    <a:pt x="1788411" y="645835"/>
                  </a:lnTo>
                  <a:lnTo>
                    <a:pt x="1786093" y="689912"/>
                  </a:lnTo>
                  <a:lnTo>
                    <a:pt x="1777264" y="733112"/>
                  </a:lnTo>
                  <a:lnTo>
                    <a:pt x="1762028" y="774608"/>
                  </a:lnTo>
                  <a:lnTo>
                    <a:pt x="1740489" y="813568"/>
                  </a:lnTo>
                  <a:lnTo>
                    <a:pt x="1712752" y="849166"/>
                  </a:lnTo>
                  <a:lnTo>
                    <a:pt x="1678921" y="880570"/>
                  </a:lnTo>
                  <a:lnTo>
                    <a:pt x="1617072" y="917512"/>
                  </a:lnTo>
                  <a:lnTo>
                    <a:pt x="1547984" y="937212"/>
                  </a:lnTo>
                  <a:lnTo>
                    <a:pt x="1542752" y="986579"/>
                  </a:lnTo>
                  <a:lnTo>
                    <a:pt x="1528466" y="1032490"/>
                  </a:lnTo>
                  <a:lnTo>
                    <a:pt x="1506095" y="1073966"/>
                  </a:lnTo>
                  <a:lnTo>
                    <a:pt x="1476610" y="1110028"/>
                  </a:lnTo>
                  <a:lnTo>
                    <a:pt x="1440982" y="1139696"/>
                  </a:lnTo>
                  <a:lnTo>
                    <a:pt x="1400180" y="1161991"/>
                  </a:lnTo>
                  <a:lnTo>
                    <a:pt x="1355175" y="1175933"/>
                  </a:lnTo>
                  <a:lnTo>
                    <a:pt x="1306938" y="1180544"/>
                  </a:lnTo>
                  <a:lnTo>
                    <a:pt x="1274057" y="1177927"/>
                  </a:lnTo>
                  <a:lnTo>
                    <a:pt x="1242009" y="1170750"/>
                  </a:lnTo>
                  <a:lnTo>
                    <a:pt x="1211248" y="1159167"/>
                  </a:lnTo>
                  <a:lnTo>
                    <a:pt x="1182224" y="1143333"/>
                  </a:lnTo>
                  <a:lnTo>
                    <a:pt x="1165599" y="1186854"/>
                  </a:lnTo>
                  <a:lnTo>
                    <a:pt x="1143022" y="1226018"/>
                  </a:lnTo>
                  <a:lnTo>
                    <a:pt x="1115210" y="1260429"/>
                  </a:lnTo>
                  <a:lnTo>
                    <a:pt x="1082880" y="1289694"/>
                  </a:lnTo>
                  <a:lnTo>
                    <a:pt x="1046747" y="1313418"/>
                  </a:lnTo>
                  <a:lnTo>
                    <a:pt x="1007528" y="1331206"/>
                  </a:lnTo>
                  <a:lnTo>
                    <a:pt x="965939" y="1342663"/>
                  </a:lnTo>
                  <a:lnTo>
                    <a:pt x="922697" y="1347395"/>
                  </a:lnTo>
                  <a:lnTo>
                    <a:pt x="878518" y="1345007"/>
                  </a:lnTo>
                  <a:lnTo>
                    <a:pt x="834117" y="1335103"/>
                  </a:lnTo>
                  <a:lnTo>
                    <a:pt x="789445" y="1316710"/>
                  </a:lnTo>
                  <a:lnTo>
                    <a:pt x="748773" y="1290923"/>
                  </a:lnTo>
                  <a:lnTo>
                    <a:pt x="712959" y="1258397"/>
                  </a:lnTo>
                  <a:lnTo>
                    <a:pt x="682860" y="1219787"/>
                  </a:lnTo>
                  <a:lnTo>
                    <a:pt x="640673" y="1241744"/>
                  </a:lnTo>
                  <a:lnTo>
                    <a:pt x="596927" y="1256745"/>
                  </a:lnTo>
                  <a:lnTo>
                    <a:pt x="552300" y="1264963"/>
                  </a:lnTo>
                  <a:lnTo>
                    <a:pt x="507469" y="1266571"/>
                  </a:lnTo>
                  <a:lnTo>
                    <a:pt x="463112" y="1261741"/>
                  </a:lnTo>
                  <a:lnTo>
                    <a:pt x="419905" y="1250648"/>
                  </a:lnTo>
                  <a:lnTo>
                    <a:pt x="378526" y="1233462"/>
                  </a:lnTo>
                  <a:lnTo>
                    <a:pt x="339653" y="1210359"/>
                  </a:lnTo>
                  <a:lnTo>
                    <a:pt x="303962" y="1181509"/>
                  </a:lnTo>
                  <a:lnTo>
                    <a:pt x="272131" y="1147087"/>
                  </a:lnTo>
                  <a:lnTo>
                    <a:pt x="244837" y="1107265"/>
                  </a:lnTo>
                  <a:lnTo>
                    <a:pt x="242678" y="1103328"/>
                  </a:lnTo>
                  <a:lnTo>
                    <a:pt x="241535" y="1101423"/>
                  </a:lnTo>
                  <a:lnTo>
                    <a:pt x="193169" y="1100569"/>
                  </a:lnTo>
                  <a:lnTo>
                    <a:pt x="148273" y="1087218"/>
                  </a:lnTo>
                  <a:lnTo>
                    <a:pt x="108750" y="1062911"/>
                  </a:lnTo>
                  <a:lnTo>
                    <a:pt x="76505" y="1029184"/>
                  </a:lnTo>
                  <a:lnTo>
                    <a:pt x="53440" y="987576"/>
                  </a:lnTo>
                  <a:lnTo>
                    <a:pt x="41459" y="939625"/>
                  </a:lnTo>
                  <a:lnTo>
                    <a:pt x="41161" y="899368"/>
                  </a:lnTo>
                  <a:lnTo>
                    <a:pt x="49256" y="860457"/>
                  </a:lnTo>
                  <a:lnTo>
                    <a:pt x="65311" y="824236"/>
                  </a:lnTo>
                  <a:lnTo>
                    <a:pt x="88894" y="792051"/>
                  </a:lnTo>
                  <a:lnTo>
                    <a:pt x="50923" y="761402"/>
                  </a:lnTo>
                  <a:lnTo>
                    <a:pt x="23043" y="722879"/>
                  </a:lnTo>
                  <a:lnTo>
                    <a:pt x="5864" y="678894"/>
                  </a:lnTo>
                  <a:lnTo>
                    <a:pt x="0" y="631862"/>
                  </a:lnTo>
                  <a:lnTo>
                    <a:pt x="6060" y="584195"/>
                  </a:lnTo>
                  <a:lnTo>
                    <a:pt x="24657" y="538305"/>
                  </a:lnTo>
                  <a:lnTo>
                    <a:pt x="50193" y="503492"/>
                  </a:lnTo>
                  <a:lnTo>
                    <a:pt x="82449" y="476107"/>
                  </a:lnTo>
                  <a:lnTo>
                    <a:pt x="119962" y="457152"/>
                  </a:lnTo>
                  <a:lnTo>
                    <a:pt x="161271" y="447627"/>
                  </a:lnTo>
                  <a:lnTo>
                    <a:pt x="162795" y="443436"/>
                  </a:lnTo>
                  <a:close/>
                </a:path>
                <a:path w="1788795" h="1347470">
                  <a:moveTo>
                    <a:pt x="195561" y="811609"/>
                  </a:moveTo>
                  <a:lnTo>
                    <a:pt x="168207" y="811649"/>
                  </a:lnTo>
                  <a:lnTo>
                    <a:pt x="141319" y="807450"/>
                  </a:lnTo>
                  <a:lnTo>
                    <a:pt x="115365" y="799108"/>
                  </a:lnTo>
                  <a:lnTo>
                    <a:pt x="90812" y="786717"/>
                  </a:lnTo>
                </a:path>
                <a:path w="1788795" h="1347470">
                  <a:moveTo>
                    <a:pt x="287890" y="1083643"/>
                  </a:moveTo>
                  <a:lnTo>
                    <a:pt x="276782" y="1087739"/>
                  </a:lnTo>
                  <a:lnTo>
                    <a:pt x="265411" y="1091073"/>
                  </a:lnTo>
                  <a:lnTo>
                    <a:pt x="253850" y="1093645"/>
                  </a:lnTo>
                  <a:lnTo>
                    <a:pt x="242170" y="1095454"/>
                  </a:lnTo>
                </a:path>
                <a:path w="1788795" h="1347470">
                  <a:moveTo>
                    <a:pt x="682860" y="1214326"/>
                  </a:moveTo>
                  <a:lnTo>
                    <a:pt x="674855" y="1201333"/>
                  </a:lnTo>
                  <a:lnTo>
                    <a:pt x="667588" y="1187910"/>
                  </a:lnTo>
                  <a:lnTo>
                    <a:pt x="661036" y="1174107"/>
                  </a:lnTo>
                  <a:lnTo>
                    <a:pt x="655174" y="1159970"/>
                  </a:lnTo>
                </a:path>
                <a:path w="1788795" h="1347470">
                  <a:moveTo>
                    <a:pt x="1193400" y="1078944"/>
                  </a:moveTo>
                  <a:lnTo>
                    <a:pt x="1191781" y="1094038"/>
                  </a:lnTo>
                  <a:lnTo>
                    <a:pt x="1189400" y="1109012"/>
                  </a:lnTo>
                  <a:lnTo>
                    <a:pt x="1186256" y="1123843"/>
                  </a:lnTo>
                  <a:lnTo>
                    <a:pt x="1182351" y="1138507"/>
                  </a:lnTo>
                </a:path>
              </a:pathLst>
            </a:custGeom>
            <a:ln w="12700">
              <a:solidFill>
                <a:srgbClr val="0152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986" y="4469129"/>
              <a:ext cx="147065" cy="2353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19529" y="3832732"/>
              <a:ext cx="1567180" cy="489584"/>
            </a:xfrm>
            <a:custGeom>
              <a:avLst/>
              <a:gdLst/>
              <a:ahLst/>
              <a:cxnLst/>
              <a:rect l="l" t="t" r="r" b="b"/>
              <a:pathLst>
                <a:path w="1567180" h="489585">
                  <a:moveTo>
                    <a:pt x="1566926" y="405765"/>
                  </a:moveTo>
                  <a:lnTo>
                    <a:pt x="1555541" y="429232"/>
                  </a:lnTo>
                  <a:lnTo>
                    <a:pt x="1541668" y="451104"/>
                  </a:lnTo>
                  <a:lnTo>
                    <a:pt x="1525438" y="471166"/>
                  </a:lnTo>
                  <a:lnTo>
                    <a:pt x="1506982" y="489204"/>
                  </a:lnTo>
                </a:path>
                <a:path w="1567180" h="489585">
                  <a:moveTo>
                    <a:pt x="1423289" y="96139"/>
                  </a:moveTo>
                  <a:lnTo>
                    <a:pt x="1424765" y="105971"/>
                  </a:lnTo>
                  <a:lnTo>
                    <a:pt x="1425765" y="115839"/>
                  </a:lnTo>
                  <a:lnTo>
                    <a:pt x="1426289" y="125731"/>
                  </a:lnTo>
                  <a:lnTo>
                    <a:pt x="1426337" y="135636"/>
                  </a:lnTo>
                </a:path>
                <a:path w="1567180" h="489585">
                  <a:moveTo>
                    <a:pt x="1041019" y="50165"/>
                  </a:moveTo>
                  <a:lnTo>
                    <a:pt x="1047301" y="36790"/>
                  </a:lnTo>
                  <a:lnTo>
                    <a:pt x="1054512" y="23939"/>
                  </a:lnTo>
                  <a:lnTo>
                    <a:pt x="1062628" y="11660"/>
                  </a:lnTo>
                  <a:lnTo>
                    <a:pt x="1071626" y="0"/>
                  </a:lnTo>
                </a:path>
                <a:path w="1567180" h="489585">
                  <a:moveTo>
                    <a:pt x="754126" y="74168"/>
                  </a:moveTo>
                  <a:lnTo>
                    <a:pt x="756840" y="63007"/>
                  </a:lnTo>
                  <a:lnTo>
                    <a:pt x="760221" y="52038"/>
                  </a:lnTo>
                  <a:lnTo>
                    <a:pt x="764270" y="41306"/>
                  </a:lnTo>
                  <a:lnTo>
                    <a:pt x="768984" y="30861"/>
                  </a:lnTo>
                </a:path>
                <a:path w="1567180" h="489585">
                  <a:moveTo>
                    <a:pt x="417575" y="88900"/>
                  </a:moveTo>
                  <a:lnTo>
                    <a:pt x="431881" y="98111"/>
                  </a:lnTo>
                  <a:lnTo>
                    <a:pt x="445627" y="108204"/>
                  </a:lnTo>
                  <a:lnTo>
                    <a:pt x="458777" y="119153"/>
                  </a:lnTo>
                  <a:lnTo>
                    <a:pt x="471296" y="130937"/>
                  </a:lnTo>
                </a:path>
                <a:path w="1567180" h="489585">
                  <a:moveTo>
                    <a:pt x="9397" y="419354"/>
                  </a:moveTo>
                  <a:lnTo>
                    <a:pt x="6375" y="408447"/>
                  </a:lnTo>
                  <a:lnTo>
                    <a:pt x="3794" y="397446"/>
                  </a:lnTo>
                  <a:lnTo>
                    <a:pt x="1664" y="386349"/>
                  </a:lnTo>
                  <a:lnTo>
                    <a:pt x="0" y="375158"/>
                  </a:lnTo>
                </a:path>
              </a:pathLst>
            </a:custGeom>
            <a:ln w="12700">
              <a:solidFill>
                <a:srgbClr val="0152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236211" y="2997961"/>
            <a:ext cx="87630" cy="87630"/>
            <a:chOff x="4236211" y="2997961"/>
            <a:chExt cx="87630" cy="8763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2561" y="3004311"/>
              <a:ext cx="74802" cy="748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6211" y="2997961"/>
              <a:ext cx="87502" cy="8750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706367" y="3267964"/>
            <a:ext cx="162560" cy="162560"/>
            <a:chOff x="3706367" y="3267964"/>
            <a:chExt cx="162560" cy="16256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2717" y="3274314"/>
              <a:ext cx="149606" cy="1497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6367" y="3267964"/>
              <a:ext cx="162306" cy="162433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113023" y="3577716"/>
            <a:ext cx="237490" cy="237490"/>
            <a:chOff x="3113023" y="3577716"/>
            <a:chExt cx="237490" cy="23749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9373" y="3584066"/>
              <a:ext cx="224536" cy="2245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3023" y="3577716"/>
              <a:ext cx="237236" cy="23723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21078" y="3835095"/>
            <a:ext cx="93471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Should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start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def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keyword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32041" y="4625547"/>
            <a:ext cx="2717800" cy="1023619"/>
            <a:chOff x="3732041" y="4625547"/>
            <a:chExt cx="2717800" cy="1023619"/>
          </a:xfrm>
        </p:grpSpPr>
        <p:sp>
          <p:nvSpPr>
            <p:cNvPr id="21" name="object 21"/>
            <p:cNvSpPr/>
            <p:nvPr/>
          </p:nvSpPr>
          <p:spPr>
            <a:xfrm>
              <a:off x="3738391" y="4631897"/>
              <a:ext cx="2705100" cy="1010919"/>
            </a:xfrm>
            <a:custGeom>
              <a:avLst/>
              <a:gdLst/>
              <a:ahLst/>
              <a:cxnLst/>
              <a:rect l="l" t="t" r="r" b="b"/>
              <a:pathLst>
                <a:path w="2705100" h="1010920">
                  <a:moveTo>
                    <a:pt x="2100127" y="0"/>
                  </a:moveTo>
                  <a:lnTo>
                    <a:pt x="2048531" y="2156"/>
                  </a:lnTo>
                  <a:lnTo>
                    <a:pt x="1998263" y="8738"/>
                  </a:lnTo>
                  <a:lnTo>
                    <a:pt x="1950532" y="19694"/>
                  </a:lnTo>
                  <a:lnTo>
                    <a:pt x="1906547" y="34974"/>
                  </a:lnTo>
                  <a:lnTo>
                    <a:pt x="1867515" y="54528"/>
                  </a:lnTo>
                  <a:lnTo>
                    <a:pt x="1847167" y="42471"/>
                  </a:lnTo>
                  <a:lnTo>
                    <a:pt x="1799327" y="22310"/>
                  </a:lnTo>
                  <a:lnTo>
                    <a:pt x="1720533" y="4413"/>
                  </a:lnTo>
                  <a:lnTo>
                    <a:pt x="1667567" y="12"/>
                  </a:lnTo>
                  <a:lnTo>
                    <a:pt x="1614836" y="942"/>
                  </a:lnTo>
                  <a:lnTo>
                    <a:pt x="1563810" y="6951"/>
                  </a:lnTo>
                  <a:lnTo>
                    <a:pt x="1515956" y="17789"/>
                  </a:lnTo>
                  <a:lnTo>
                    <a:pt x="1472745" y="33202"/>
                  </a:lnTo>
                  <a:lnTo>
                    <a:pt x="1435644" y="52941"/>
                  </a:lnTo>
                  <a:lnTo>
                    <a:pt x="1406124" y="76753"/>
                  </a:lnTo>
                  <a:lnTo>
                    <a:pt x="1388302" y="68443"/>
                  </a:lnTo>
                  <a:lnTo>
                    <a:pt x="1349420" y="53965"/>
                  </a:lnTo>
                  <a:lnTo>
                    <a:pt x="1278698" y="36820"/>
                  </a:lnTo>
                  <a:lnTo>
                    <a:pt x="1227444" y="30231"/>
                  </a:lnTo>
                  <a:lnTo>
                    <a:pt x="1175693" y="27886"/>
                  </a:lnTo>
                  <a:lnTo>
                    <a:pt x="1124373" y="29642"/>
                  </a:lnTo>
                  <a:lnTo>
                    <a:pt x="1074415" y="35351"/>
                  </a:lnTo>
                  <a:lnTo>
                    <a:pt x="1026747" y="44871"/>
                  </a:lnTo>
                  <a:lnTo>
                    <a:pt x="982297" y="58057"/>
                  </a:lnTo>
                  <a:lnTo>
                    <a:pt x="941995" y="74762"/>
                  </a:lnTo>
                  <a:lnTo>
                    <a:pt x="906770" y="94843"/>
                  </a:lnTo>
                  <a:lnTo>
                    <a:pt x="877550" y="118155"/>
                  </a:lnTo>
                  <a:lnTo>
                    <a:pt x="827044" y="105353"/>
                  </a:lnTo>
                  <a:lnTo>
                    <a:pt x="774009" y="96110"/>
                  </a:lnTo>
                  <a:lnTo>
                    <a:pt x="719175" y="90513"/>
                  </a:lnTo>
                  <a:lnTo>
                    <a:pt x="663275" y="88647"/>
                  </a:lnTo>
                  <a:lnTo>
                    <a:pt x="607040" y="90596"/>
                  </a:lnTo>
                  <a:lnTo>
                    <a:pt x="545811" y="97187"/>
                  </a:lnTo>
                  <a:lnTo>
                    <a:pt x="488574" y="107982"/>
                  </a:lnTo>
                  <a:lnTo>
                    <a:pt x="435889" y="122607"/>
                  </a:lnTo>
                  <a:lnTo>
                    <a:pt x="388316" y="140686"/>
                  </a:lnTo>
                  <a:lnTo>
                    <a:pt x="346415" y="161846"/>
                  </a:lnTo>
                  <a:lnTo>
                    <a:pt x="310746" y="185712"/>
                  </a:lnTo>
                  <a:lnTo>
                    <a:pt x="281868" y="211910"/>
                  </a:lnTo>
                  <a:lnTo>
                    <a:pt x="246727" y="269804"/>
                  </a:lnTo>
                  <a:lnTo>
                    <a:pt x="241583" y="300750"/>
                  </a:lnTo>
                  <a:lnTo>
                    <a:pt x="245471" y="332531"/>
                  </a:lnTo>
                  <a:lnTo>
                    <a:pt x="243185" y="335706"/>
                  </a:lnTo>
                  <a:lnTo>
                    <a:pt x="180716" y="342896"/>
                  </a:lnTo>
                  <a:lnTo>
                    <a:pt x="123963" y="357122"/>
                  </a:lnTo>
                  <a:lnTo>
                    <a:pt x="75164" y="377658"/>
                  </a:lnTo>
                  <a:lnTo>
                    <a:pt x="36556" y="403778"/>
                  </a:lnTo>
                  <a:lnTo>
                    <a:pt x="11266" y="433158"/>
                  </a:lnTo>
                  <a:lnTo>
                    <a:pt x="0" y="463711"/>
                  </a:lnTo>
                  <a:lnTo>
                    <a:pt x="2176" y="494292"/>
                  </a:lnTo>
                  <a:lnTo>
                    <a:pt x="17214" y="523758"/>
                  </a:lnTo>
                  <a:lnTo>
                    <a:pt x="44537" y="550965"/>
                  </a:lnTo>
                  <a:lnTo>
                    <a:pt x="83562" y="574769"/>
                  </a:lnTo>
                  <a:lnTo>
                    <a:pt x="133711" y="594024"/>
                  </a:lnTo>
                  <a:lnTo>
                    <a:pt x="98031" y="618168"/>
                  </a:lnTo>
                  <a:lnTo>
                    <a:pt x="73735" y="645348"/>
                  </a:lnTo>
                  <a:lnTo>
                    <a:pt x="61487" y="674552"/>
                  </a:lnTo>
                  <a:lnTo>
                    <a:pt x="61956" y="704768"/>
                  </a:lnTo>
                  <a:lnTo>
                    <a:pt x="103449" y="763603"/>
                  </a:lnTo>
                  <a:lnTo>
                    <a:pt x="141322" y="787228"/>
                  </a:lnTo>
                  <a:lnTo>
                    <a:pt x="188191" y="806016"/>
                  </a:lnTo>
                  <a:lnTo>
                    <a:pt x="242238" y="819237"/>
                  </a:lnTo>
                  <a:lnTo>
                    <a:pt x="301646" y="826160"/>
                  </a:lnTo>
                  <a:lnTo>
                    <a:pt x="364597" y="826053"/>
                  </a:lnTo>
                  <a:lnTo>
                    <a:pt x="367899" y="829101"/>
                  </a:lnTo>
                  <a:lnTo>
                    <a:pt x="401477" y="854290"/>
                  </a:lnTo>
                  <a:lnTo>
                    <a:pt x="437656" y="875602"/>
                  </a:lnTo>
                  <a:lnTo>
                    <a:pt x="477716" y="894371"/>
                  </a:lnTo>
                  <a:lnTo>
                    <a:pt x="521160" y="910534"/>
                  </a:lnTo>
                  <a:lnTo>
                    <a:pt x="567491" y="924026"/>
                  </a:lnTo>
                  <a:lnTo>
                    <a:pt x="616211" y="934785"/>
                  </a:lnTo>
                  <a:lnTo>
                    <a:pt x="666825" y="942747"/>
                  </a:lnTo>
                  <a:lnTo>
                    <a:pt x="718834" y="947849"/>
                  </a:lnTo>
                  <a:lnTo>
                    <a:pt x="771742" y="950026"/>
                  </a:lnTo>
                  <a:lnTo>
                    <a:pt x="825051" y="949216"/>
                  </a:lnTo>
                  <a:lnTo>
                    <a:pt x="878265" y="945354"/>
                  </a:lnTo>
                  <a:lnTo>
                    <a:pt x="930886" y="938378"/>
                  </a:lnTo>
                  <a:lnTo>
                    <a:pt x="982418" y="928223"/>
                  </a:lnTo>
                  <a:lnTo>
                    <a:pt x="1032363" y="914826"/>
                  </a:lnTo>
                  <a:lnTo>
                    <a:pt x="1067989" y="938369"/>
                  </a:lnTo>
                  <a:lnTo>
                    <a:pt x="1109345" y="959041"/>
                  </a:lnTo>
                  <a:lnTo>
                    <a:pt x="1155761" y="976595"/>
                  </a:lnTo>
                  <a:lnTo>
                    <a:pt x="1206566" y="990781"/>
                  </a:lnTo>
                  <a:lnTo>
                    <a:pt x="1261090" y="1001352"/>
                  </a:lnTo>
                  <a:lnTo>
                    <a:pt x="1317034" y="1007943"/>
                  </a:lnTo>
                  <a:lnTo>
                    <a:pt x="1372879" y="1010586"/>
                  </a:lnTo>
                  <a:lnTo>
                    <a:pt x="1427997" y="1009451"/>
                  </a:lnTo>
                  <a:lnTo>
                    <a:pt x="1481759" y="1004710"/>
                  </a:lnTo>
                  <a:lnTo>
                    <a:pt x="1533536" y="996534"/>
                  </a:lnTo>
                  <a:lnTo>
                    <a:pt x="1582701" y="985096"/>
                  </a:lnTo>
                  <a:lnTo>
                    <a:pt x="1628625" y="970566"/>
                  </a:lnTo>
                  <a:lnTo>
                    <a:pt x="1670679" y="953116"/>
                  </a:lnTo>
                  <a:lnTo>
                    <a:pt x="1708235" y="932918"/>
                  </a:lnTo>
                  <a:lnTo>
                    <a:pt x="1740664" y="910143"/>
                  </a:lnTo>
                  <a:lnTo>
                    <a:pt x="1787632" y="857549"/>
                  </a:lnTo>
                  <a:lnTo>
                    <a:pt x="1831621" y="869416"/>
                  </a:lnTo>
                  <a:lnTo>
                    <a:pt x="1878183" y="878092"/>
                  </a:lnTo>
                  <a:lnTo>
                    <a:pt x="1926649" y="883481"/>
                  </a:lnTo>
                  <a:lnTo>
                    <a:pt x="1976354" y="885489"/>
                  </a:lnTo>
                  <a:lnTo>
                    <a:pt x="2035066" y="883308"/>
                  </a:lnTo>
                  <a:lnTo>
                    <a:pt x="2090840" y="876555"/>
                  </a:lnTo>
                  <a:lnTo>
                    <a:pt x="2142925" y="865605"/>
                  </a:lnTo>
                  <a:lnTo>
                    <a:pt x="2190569" y="850832"/>
                  </a:lnTo>
                  <a:lnTo>
                    <a:pt x="2233021" y="832610"/>
                  </a:lnTo>
                  <a:lnTo>
                    <a:pt x="2269528" y="811313"/>
                  </a:lnTo>
                  <a:lnTo>
                    <a:pt x="2299341" y="787316"/>
                  </a:lnTo>
                  <a:lnTo>
                    <a:pt x="2335877" y="732717"/>
                  </a:lnTo>
                  <a:lnTo>
                    <a:pt x="2341098" y="702863"/>
                  </a:lnTo>
                  <a:lnTo>
                    <a:pt x="2394360" y="697218"/>
                  </a:lnTo>
                  <a:lnTo>
                    <a:pt x="2445539" y="688179"/>
                  </a:lnTo>
                  <a:lnTo>
                    <a:pt x="2494027" y="675878"/>
                  </a:lnTo>
                  <a:lnTo>
                    <a:pt x="2539218" y="660445"/>
                  </a:lnTo>
                  <a:lnTo>
                    <a:pt x="2590336" y="636908"/>
                  </a:lnTo>
                  <a:lnTo>
                    <a:pt x="2632257" y="610222"/>
                  </a:lnTo>
                  <a:lnTo>
                    <a:pt x="2664818" y="581008"/>
                  </a:lnTo>
                  <a:lnTo>
                    <a:pt x="2687860" y="549890"/>
                  </a:lnTo>
                  <a:lnTo>
                    <a:pt x="2704742" y="484433"/>
                  </a:lnTo>
                  <a:lnTo>
                    <a:pt x="2698260" y="451338"/>
                  </a:lnTo>
                  <a:lnTo>
                    <a:pt x="2681616" y="418828"/>
                  </a:lnTo>
                  <a:lnTo>
                    <a:pt x="2654648" y="387528"/>
                  </a:lnTo>
                  <a:lnTo>
                    <a:pt x="2617196" y="358058"/>
                  </a:lnTo>
                  <a:lnTo>
                    <a:pt x="2621577" y="352584"/>
                  </a:lnTo>
                  <a:lnTo>
                    <a:pt x="2625578" y="347025"/>
                  </a:lnTo>
                  <a:lnTo>
                    <a:pt x="2629197" y="341396"/>
                  </a:lnTo>
                  <a:lnTo>
                    <a:pt x="2632436" y="335706"/>
                  </a:lnTo>
                  <a:lnTo>
                    <a:pt x="2643552" y="301711"/>
                  </a:lnTo>
                  <a:lnTo>
                    <a:pt x="2641242" y="268293"/>
                  </a:lnTo>
                  <a:lnTo>
                    <a:pt x="2600114" y="206547"/>
                  </a:lnTo>
                  <a:lnTo>
                    <a:pt x="2563183" y="179898"/>
                  </a:lnTo>
                  <a:lnTo>
                    <a:pt x="2516600" y="157184"/>
                  </a:lnTo>
                  <a:lnTo>
                    <a:pt x="2461306" y="139244"/>
                  </a:lnTo>
                  <a:lnTo>
                    <a:pt x="2398248" y="126918"/>
                  </a:lnTo>
                  <a:lnTo>
                    <a:pt x="2384482" y="101165"/>
                  </a:lnTo>
                  <a:lnTo>
                    <a:pt x="2332614" y="55517"/>
                  </a:lnTo>
                  <a:lnTo>
                    <a:pt x="2295632" y="36621"/>
                  </a:lnTo>
                  <a:lnTo>
                    <a:pt x="2250804" y="20578"/>
                  </a:lnTo>
                  <a:lnTo>
                    <a:pt x="2202472" y="9160"/>
                  </a:lnTo>
                  <a:lnTo>
                    <a:pt x="2151844" y="2317"/>
                  </a:lnTo>
                  <a:lnTo>
                    <a:pt x="2100127" y="0"/>
                  </a:lnTo>
                  <a:close/>
                </a:path>
              </a:pathLst>
            </a:custGeom>
            <a:solidFill>
              <a:srgbClr val="0473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38391" y="4631897"/>
              <a:ext cx="2705100" cy="1010919"/>
            </a:xfrm>
            <a:custGeom>
              <a:avLst/>
              <a:gdLst/>
              <a:ahLst/>
              <a:cxnLst/>
              <a:rect l="l" t="t" r="r" b="b"/>
              <a:pathLst>
                <a:path w="2705100" h="1010920">
                  <a:moveTo>
                    <a:pt x="245471" y="332531"/>
                  </a:moveTo>
                  <a:lnTo>
                    <a:pt x="246727" y="269804"/>
                  </a:lnTo>
                  <a:lnTo>
                    <a:pt x="281868" y="211910"/>
                  </a:lnTo>
                  <a:lnTo>
                    <a:pt x="310746" y="185712"/>
                  </a:lnTo>
                  <a:lnTo>
                    <a:pt x="346415" y="161846"/>
                  </a:lnTo>
                  <a:lnTo>
                    <a:pt x="388316" y="140686"/>
                  </a:lnTo>
                  <a:lnTo>
                    <a:pt x="435889" y="122607"/>
                  </a:lnTo>
                  <a:lnTo>
                    <a:pt x="488574" y="107982"/>
                  </a:lnTo>
                  <a:lnTo>
                    <a:pt x="545811" y="97187"/>
                  </a:lnTo>
                  <a:lnTo>
                    <a:pt x="607040" y="90596"/>
                  </a:lnTo>
                  <a:lnTo>
                    <a:pt x="663275" y="88647"/>
                  </a:lnTo>
                  <a:lnTo>
                    <a:pt x="719175" y="90513"/>
                  </a:lnTo>
                  <a:lnTo>
                    <a:pt x="774009" y="96110"/>
                  </a:lnTo>
                  <a:lnTo>
                    <a:pt x="827044" y="105353"/>
                  </a:lnTo>
                  <a:lnTo>
                    <a:pt x="877550" y="118155"/>
                  </a:lnTo>
                  <a:lnTo>
                    <a:pt x="906770" y="94843"/>
                  </a:lnTo>
                  <a:lnTo>
                    <a:pt x="941995" y="74762"/>
                  </a:lnTo>
                  <a:lnTo>
                    <a:pt x="982297" y="58057"/>
                  </a:lnTo>
                  <a:lnTo>
                    <a:pt x="1026747" y="44871"/>
                  </a:lnTo>
                  <a:lnTo>
                    <a:pt x="1074415" y="35351"/>
                  </a:lnTo>
                  <a:lnTo>
                    <a:pt x="1124373" y="29642"/>
                  </a:lnTo>
                  <a:lnTo>
                    <a:pt x="1175693" y="27886"/>
                  </a:lnTo>
                  <a:lnTo>
                    <a:pt x="1227444" y="30231"/>
                  </a:lnTo>
                  <a:lnTo>
                    <a:pt x="1278698" y="36820"/>
                  </a:lnTo>
                  <a:lnTo>
                    <a:pt x="1328527" y="47797"/>
                  </a:lnTo>
                  <a:lnTo>
                    <a:pt x="1369373" y="60847"/>
                  </a:lnTo>
                  <a:lnTo>
                    <a:pt x="1406124" y="76753"/>
                  </a:lnTo>
                  <a:lnTo>
                    <a:pt x="1435644" y="52941"/>
                  </a:lnTo>
                  <a:lnTo>
                    <a:pt x="1472745" y="33202"/>
                  </a:lnTo>
                  <a:lnTo>
                    <a:pt x="1515956" y="17789"/>
                  </a:lnTo>
                  <a:lnTo>
                    <a:pt x="1563810" y="6951"/>
                  </a:lnTo>
                  <a:lnTo>
                    <a:pt x="1614836" y="942"/>
                  </a:lnTo>
                  <a:lnTo>
                    <a:pt x="1667567" y="12"/>
                  </a:lnTo>
                  <a:lnTo>
                    <a:pt x="1720533" y="4413"/>
                  </a:lnTo>
                  <a:lnTo>
                    <a:pt x="1772265" y="14396"/>
                  </a:lnTo>
                  <a:lnTo>
                    <a:pt x="1824366" y="31700"/>
                  </a:lnTo>
                  <a:lnTo>
                    <a:pt x="1867515" y="54528"/>
                  </a:lnTo>
                  <a:lnTo>
                    <a:pt x="1906547" y="34974"/>
                  </a:lnTo>
                  <a:lnTo>
                    <a:pt x="1950532" y="19694"/>
                  </a:lnTo>
                  <a:lnTo>
                    <a:pt x="1998263" y="8738"/>
                  </a:lnTo>
                  <a:lnTo>
                    <a:pt x="2048531" y="2156"/>
                  </a:lnTo>
                  <a:lnTo>
                    <a:pt x="2100127" y="0"/>
                  </a:lnTo>
                  <a:lnTo>
                    <a:pt x="2151844" y="2317"/>
                  </a:lnTo>
                  <a:lnTo>
                    <a:pt x="2202472" y="9160"/>
                  </a:lnTo>
                  <a:lnTo>
                    <a:pt x="2250804" y="20578"/>
                  </a:lnTo>
                  <a:lnTo>
                    <a:pt x="2295632" y="36621"/>
                  </a:lnTo>
                  <a:lnTo>
                    <a:pt x="2332614" y="55517"/>
                  </a:lnTo>
                  <a:lnTo>
                    <a:pt x="2384482" y="101165"/>
                  </a:lnTo>
                  <a:lnTo>
                    <a:pt x="2398248" y="126918"/>
                  </a:lnTo>
                  <a:lnTo>
                    <a:pt x="2461306" y="139244"/>
                  </a:lnTo>
                  <a:lnTo>
                    <a:pt x="2516600" y="157184"/>
                  </a:lnTo>
                  <a:lnTo>
                    <a:pt x="2563183" y="179898"/>
                  </a:lnTo>
                  <a:lnTo>
                    <a:pt x="2600114" y="206547"/>
                  </a:lnTo>
                  <a:lnTo>
                    <a:pt x="2626448" y="236292"/>
                  </a:lnTo>
                  <a:lnTo>
                    <a:pt x="2643552" y="301711"/>
                  </a:lnTo>
                  <a:lnTo>
                    <a:pt x="2632436" y="335706"/>
                  </a:lnTo>
                  <a:lnTo>
                    <a:pt x="2629197" y="341396"/>
                  </a:lnTo>
                  <a:lnTo>
                    <a:pt x="2625578" y="347025"/>
                  </a:lnTo>
                  <a:lnTo>
                    <a:pt x="2621577" y="352584"/>
                  </a:lnTo>
                  <a:lnTo>
                    <a:pt x="2617196" y="358058"/>
                  </a:lnTo>
                  <a:lnTo>
                    <a:pt x="2654648" y="387528"/>
                  </a:lnTo>
                  <a:lnTo>
                    <a:pt x="2681616" y="418828"/>
                  </a:lnTo>
                  <a:lnTo>
                    <a:pt x="2698260" y="451338"/>
                  </a:lnTo>
                  <a:lnTo>
                    <a:pt x="2704742" y="484433"/>
                  </a:lnTo>
                  <a:lnTo>
                    <a:pt x="2701222" y="517491"/>
                  </a:lnTo>
                  <a:lnTo>
                    <a:pt x="2664818" y="581008"/>
                  </a:lnTo>
                  <a:lnTo>
                    <a:pt x="2632257" y="610222"/>
                  </a:lnTo>
                  <a:lnTo>
                    <a:pt x="2590336" y="636908"/>
                  </a:lnTo>
                  <a:lnTo>
                    <a:pt x="2539218" y="660445"/>
                  </a:lnTo>
                  <a:lnTo>
                    <a:pt x="2494027" y="675878"/>
                  </a:lnTo>
                  <a:lnTo>
                    <a:pt x="2445539" y="688179"/>
                  </a:lnTo>
                  <a:lnTo>
                    <a:pt x="2394360" y="697218"/>
                  </a:lnTo>
                  <a:lnTo>
                    <a:pt x="2341098" y="702863"/>
                  </a:lnTo>
                  <a:lnTo>
                    <a:pt x="2335877" y="732717"/>
                  </a:lnTo>
                  <a:lnTo>
                    <a:pt x="2299341" y="787316"/>
                  </a:lnTo>
                  <a:lnTo>
                    <a:pt x="2269528" y="811313"/>
                  </a:lnTo>
                  <a:lnTo>
                    <a:pt x="2233021" y="832610"/>
                  </a:lnTo>
                  <a:lnTo>
                    <a:pt x="2190569" y="850832"/>
                  </a:lnTo>
                  <a:lnTo>
                    <a:pt x="2142925" y="865605"/>
                  </a:lnTo>
                  <a:lnTo>
                    <a:pt x="2090840" y="876555"/>
                  </a:lnTo>
                  <a:lnTo>
                    <a:pt x="2035066" y="883308"/>
                  </a:lnTo>
                  <a:lnTo>
                    <a:pt x="1976354" y="885489"/>
                  </a:lnTo>
                  <a:lnTo>
                    <a:pt x="1926649" y="883481"/>
                  </a:lnTo>
                  <a:lnTo>
                    <a:pt x="1878183" y="878092"/>
                  </a:lnTo>
                  <a:lnTo>
                    <a:pt x="1831621" y="869416"/>
                  </a:lnTo>
                  <a:lnTo>
                    <a:pt x="1787632" y="857549"/>
                  </a:lnTo>
                  <a:lnTo>
                    <a:pt x="1767340" y="884963"/>
                  </a:lnTo>
                  <a:lnTo>
                    <a:pt x="1708235" y="932918"/>
                  </a:lnTo>
                  <a:lnTo>
                    <a:pt x="1670679" y="953116"/>
                  </a:lnTo>
                  <a:lnTo>
                    <a:pt x="1628625" y="970566"/>
                  </a:lnTo>
                  <a:lnTo>
                    <a:pt x="1582701" y="985096"/>
                  </a:lnTo>
                  <a:lnTo>
                    <a:pt x="1533536" y="996534"/>
                  </a:lnTo>
                  <a:lnTo>
                    <a:pt x="1481759" y="1004710"/>
                  </a:lnTo>
                  <a:lnTo>
                    <a:pt x="1427997" y="1009451"/>
                  </a:lnTo>
                  <a:lnTo>
                    <a:pt x="1372879" y="1010586"/>
                  </a:lnTo>
                  <a:lnTo>
                    <a:pt x="1317034" y="1007943"/>
                  </a:lnTo>
                  <a:lnTo>
                    <a:pt x="1261090" y="1001352"/>
                  </a:lnTo>
                  <a:lnTo>
                    <a:pt x="1206566" y="990781"/>
                  </a:lnTo>
                  <a:lnTo>
                    <a:pt x="1155761" y="976595"/>
                  </a:lnTo>
                  <a:lnTo>
                    <a:pt x="1109345" y="959041"/>
                  </a:lnTo>
                  <a:lnTo>
                    <a:pt x="1067989" y="938369"/>
                  </a:lnTo>
                  <a:lnTo>
                    <a:pt x="1032363" y="914826"/>
                  </a:lnTo>
                  <a:lnTo>
                    <a:pt x="982418" y="928223"/>
                  </a:lnTo>
                  <a:lnTo>
                    <a:pt x="930886" y="938378"/>
                  </a:lnTo>
                  <a:lnTo>
                    <a:pt x="878265" y="945354"/>
                  </a:lnTo>
                  <a:lnTo>
                    <a:pt x="825051" y="949216"/>
                  </a:lnTo>
                  <a:lnTo>
                    <a:pt x="771742" y="950026"/>
                  </a:lnTo>
                  <a:lnTo>
                    <a:pt x="718834" y="947849"/>
                  </a:lnTo>
                  <a:lnTo>
                    <a:pt x="666825" y="942747"/>
                  </a:lnTo>
                  <a:lnTo>
                    <a:pt x="616211" y="934785"/>
                  </a:lnTo>
                  <a:lnTo>
                    <a:pt x="567491" y="924026"/>
                  </a:lnTo>
                  <a:lnTo>
                    <a:pt x="521160" y="910534"/>
                  </a:lnTo>
                  <a:lnTo>
                    <a:pt x="477716" y="894371"/>
                  </a:lnTo>
                  <a:lnTo>
                    <a:pt x="437656" y="875602"/>
                  </a:lnTo>
                  <a:lnTo>
                    <a:pt x="401477" y="854290"/>
                  </a:lnTo>
                  <a:lnTo>
                    <a:pt x="369677" y="830498"/>
                  </a:lnTo>
                  <a:lnTo>
                    <a:pt x="366248" y="827577"/>
                  </a:lnTo>
                  <a:lnTo>
                    <a:pt x="364597" y="826053"/>
                  </a:lnTo>
                  <a:lnTo>
                    <a:pt x="301646" y="826160"/>
                  </a:lnTo>
                  <a:lnTo>
                    <a:pt x="242238" y="819237"/>
                  </a:lnTo>
                  <a:lnTo>
                    <a:pt x="188191" y="806016"/>
                  </a:lnTo>
                  <a:lnTo>
                    <a:pt x="141322" y="787228"/>
                  </a:lnTo>
                  <a:lnTo>
                    <a:pt x="103449" y="763603"/>
                  </a:lnTo>
                  <a:lnTo>
                    <a:pt x="76387" y="735873"/>
                  </a:lnTo>
                  <a:lnTo>
                    <a:pt x="61487" y="674552"/>
                  </a:lnTo>
                  <a:lnTo>
                    <a:pt x="73735" y="645348"/>
                  </a:lnTo>
                  <a:lnTo>
                    <a:pt x="98031" y="618168"/>
                  </a:lnTo>
                  <a:lnTo>
                    <a:pt x="133711" y="594024"/>
                  </a:lnTo>
                  <a:lnTo>
                    <a:pt x="83562" y="574769"/>
                  </a:lnTo>
                  <a:lnTo>
                    <a:pt x="44537" y="550965"/>
                  </a:lnTo>
                  <a:lnTo>
                    <a:pt x="17214" y="523758"/>
                  </a:lnTo>
                  <a:lnTo>
                    <a:pt x="2176" y="494292"/>
                  </a:lnTo>
                  <a:lnTo>
                    <a:pt x="0" y="463711"/>
                  </a:lnTo>
                  <a:lnTo>
                    <a:pt x="11266" y="433158"/>
                  </a:lnTo>
                  <a:lnTo>
                    <a:pt x="36556" y="403778"/>
                  </a:lnTo>
                  <a:lnTo>
                    <a:pt x="75164" y="377658"/>
                  </a:lnTo>
                  <a:lnTo>
                    <a:pt x="123963" y="357122"/>
                  </a:lnTo>
                  <a:lnTo>
                    <a:pt x="180716" y="342896"/>
                  </a:lnTo>
                  <a:lnTo>
                    <a:pt x="243185" y="335706"/>
                  </a:lnTo>
                  <a:lnTo>
                    <a:pt x="245471" y="332531"/>
                  </a:lnTo>
                  <a:close/>
                </a:path>
                <a:path w="2705100" h="1010920">
                  <a:moveTo>
                    <a:pt x="295001" y="608756"/>
                  </a:moveTo>
                  <a:lnTo>
                    <a:pt x="253682" y="608768"/>
                  </a:lnTo>
                  <a:lnTo>
                    <a:pt x="213054" y="605613"/>
                  </a:lnTo>
                  <a:lnTo>
                    <a:pt x="173807" y="599362"/>
                  </a:lnTo>
                  <a:lnTo>
                    <a:pt x="136632" y="590087"/>
                  </a:lnTo>
                </a:path>
                <a:path w="2705100" h="1010920">
                  <a:moveTo>
                    <a:pt x="434828" y="812718"/>
                  </a:moveTo>
                  <a:lnTo>
                    <a:pt x="417956" y="815840"/>
                  </a:lnTo>
                  <a:lnTo>
                    <a:pt x="400728" y="818354"/>
                  </a:lnTo>
                  <a:lnTo>
                    <a:pt x="383214" y="820273"/>
                  </a:lnTo>
                  <a:lnTo>
                    <a:pt x="365486" y="821608"/>
                  </a:lnTo>
                </a:path>
                <a:path w="2705100" h="1010920">
                  <a:moveTo>
                    <a:pt x="1032109" y="910762"/>
                  </a:moveTo>
                  <a:lnTo>
                    <a:pt x="1020117" y="901055"/>
                  </a:lnTo>
                  <a:lnTo>
                    <a:pt x="1009137" y="891014"/>
                  </a:lnTo>
                  <a:lnTo>
                    <a:pt x="999229" y="880687"/>
                  </a:lnTo>
                  <a:lnTo>
                    <a:pt x="990453" y="870122"/>
                  </a:lnTo>
                </a:path>
                <a:path w="2705100" h="1010920">
                  <a:moveTo>
                    <a:pt x="1804523" y="809289"/>
                  </a:moveTo>
                  <a:lnTo>
                    <a:pt x="1802119" y="820596"/>
                  </a:lnTo>
                  <a:lnTo>
                    <a:pt x="1798538" y="831832"/>
                  </a:lnTo>
                  <a:lnTo>
                    <a:pt x="1793789" y="842972"/>
                  </a:lnTo>
                  <a:lnTo>
                    <a:pt x="1787886" y="853993"/>
                  </a:lnTo>
                </a:path>
              </a:pathLst>
            </a:custGeom>
            <a:ln w="12700">
              <a:solidFill>
                <a:srgbClr val="0152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8288" y="5158866"/>
              <a:ext cx="216026" cy="17970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83862" y="4683124"/>
              <a:ext cx="2370455" cy="367030"/>
            </a:xfrm>
            <a:custGeom>
              <a:avLst/>
              <a:gdLst/>
              <a:ahLst/>
              <a:cxnLst/>
              <a:rect l="l" t="t" r="r" b="b"/>
              <a:pathLst>
                <a:path w="2370454" h="367029">
                  <a:moveTo>
                    <a:pt x="2370454" y="304419"/>
                  </a:moveTo>
                  <a:lnTo>
                    <a:pt x="2353250" y="321968"/>
                  </a:lnTo>
                  <a:lnTo>
                    <a:pt x="2332259" y="338328"/>
                  </a:lnTo>
                  <a:lnTo>
                    <a:pt x="2307697" y="353353"/>
                  </a:lnTo>
                  <a:lnTo>
                    <a:pt x="2279777" y="366902"/>
                  </a:lnTo>
                </a:path>
                <a:path w="2370454" h="367029">
                  <a:moveTo>
                    <a:pt x="2153158" y="72136"/>
                  </a:moveTo>
                  <a:lnTo>
                    <a:pt x="2155374" y="79492"/>
                  </a:lnTo>
                  <a:lnTo>
                    <a:pt x="2156888" y="86883"/>
                  </a:lnTo>
                  <a:lnTo>
                    <a:pt x="2157712" y="94299"/>
                  </a:lnTo>
                  <a:lnTo>
                    <a:pt x="2157857" y="101726"/>
                  </a:lnTo>
                </a:path>
                <a:path w="2370454" h="367029">
                  <a:moveTo>
                    <a:pt x="1574800" y="37718"/>
                  </a:moveTo>
                  <a:lnTo>
                    <a:pt x="1584364" y="27628"/>
                  </a:lnTo>
                  <a:lnTo>
                    <a:pt x="1595310" y="17954"/>
                  </a:lnTo>
                  <a:lnTo>
                    <a:pt x="1607589" y="8733"/>
                  </a:lnTo>
                  <a:lnTo>
                    <a:pt x="1621154" y="0"/>
                  </a:lnTo>
                </a:path>
                <a:path w="2370454" h="367029">
                  <a:moveTo>
                    <a:pt x="1140840" y="55625"/>
                  </a:moveTo>
                  <a:lnTo>
                    <a:pt x="1144978" y="47295"/>
                  </a:lnTo>
                  <a:lnTo>
                    <a:pt x="1150127" y="39084"/>
                  </a:lnTo>
                  <a:lnTo>
                    <a:pt x="1156253" y="31015"/>
                  </a:lnTo>
                  <a:lnTo>
                    <a:pt x="1163320" y="23113"/>
                  </a:lnTo>
                </a:path>
                <a:path w="2370454" h="367029">
                  <a:moveTo>
                    <a:pt x="631698" y="66675"/>
                  </a:moveTo>
                  <a:lnTo>
                    <a:pt x="653381" y="73598"/>
                  </a:lnTo>
                  <a:lnTo>
                    <a:pt x="674195" y="81200"/>
                  </a:lnTo>
                  <a:lnTo>
                    <a:pt x="694080" y="89445"/>
                  </a:lnTo>
                  <a:lnTo>
                    <a:pt x="712977" y="98298"/>
                  </a:lnTo>
                </a:path>
                <a:path w="2370454" h="367029">
                  <a:moveTo>
                    <a:pt x="14224" y="314579"/>
                  </a:moveTo>
                  <a:lnTo>
                    <a:pt x="9679" y="306363"/>
                  </a:lnTo>
                  <a:lnTo>
                    <a:pt x="5778" y="298100"/>
                  </a:lnTo>
                  <a:lnTo>
                    <a:pt x="2543" y="289790"/>
                  </a:lnTo>
                  <a:lnTo>
                    <a:pt x="0" y="281431"/>
                  </a:lnTo>
                </a:path>
              </a:pathLst>
            </a:custGeom>
            <a:ln w="12700">
              <a:solidFill>
                <a:srgbClr val="0152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350128" y="3110992"/>
            <a:ext cx="69215" cy="69215"/>
            <a:chOff x="5350128" y="3110992"/>
            <a:chExt cx="69215" cy="69215"/>
          </a:xfrm>
        </p:grpSpPr>
        <p:sp>
          <p:nvSpPr>
            <p:cNvPr id="26" name="object 26"/>
            <p:cNvSpPr/>
            <p:nvPr/>
          </p:nvSpPr>
          <p:spPr>
            <a:xfrm>
              <a:off x="5356478" y="3117342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4" h="56514">
                  <a:moveTo>
                    <a:pt x="28067" y="0"/>
                  </a:moveTo>
                  <a:lnTo>
                    <a:pt x="17144" y="2206"/>
                  </a:lnTo>
                  <a:lnTo>
                    <a:pt x="8223" y="8223"/>
                  </a:lnTo>
                  <a:lnTo>
                    <a:pt x="2206" y="17145"/>
                  </a:lnTo>
                  <a:lnTo>
                    <a:pt x="0" y="28067"/>
                  </a:lnTo>
                  <a:lnTo>
                    <a:pt x="2206" y="38989"/>
                  </a:lnTo>
                  <a:lnTo>
                    <a:pt x="8223" y="47910"/>
                  </a:lnTo>
                  <a:lnTo>
                    <a:pt x="17145" y="53927"/>
                  </a:lnTo>
                  <a:lnTo>
                    <a:pt x="28067" y="56134"/>
                  </a:lnTo>
                  <a:lnTo>
                    <a:pt x="38989" y="53927"/>
                  </a:lnTo>
                  <a:lnTo>
                    <a:pt x="47910" y="47910"/>
                  </a:lnTo>
                  <a:lnTo>
                    <a:pt x="53927" y="38988"/>
                  </a:lnTo>
                  <a:lnTo>
                    <a:pt x="56134" y="28067"/>
                  </a:lnTo>
                  <a:lnTo>
                    <a:pt x="53927" y="17144"/>
                  </a:lnTo>
                  <a:lnTo>
                    <a:pt x="47910" y="8223"/>
                  </a:lnTo>
                  <a:lnTo>
                    <a:pt x="38988" y="2206"/>
                  </a:lnTo>
                  <a:lnTo>
                    <a:pt x="28067" y="0"/>
                  </a:lnTo>
                  <a:close/>
                </a:path>
              </a:pathLst>
            </a:custGeom>
            <a:solidFill>
              <a:srgbClr val="0473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0128" y="3110992"/>
              <a:ext cx="68834" cy="68834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5251830" y="3559047"/>
            <a:ext cx="125095" cy="125095"/>
            <a:chOff x="5251830" y="3559047"/>
            <a:chExt cx="125095" cy="12509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8180" y="3565397"/>
              <a:ext cx="112268" cy="11226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51830" y="3559047"/>
              <a:ext cx="124968" cy="124968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5145151" y="4062603"/>
            <a:ext cx="181610" cy="181610"/>
            <a:chOff x="5145151" y="4062603"/>
            <a:chExt cx="181610" cy="181610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51501" y="4068953"/>
              <a:ext cx="168401" cy="16840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45151" y="4062603"/>
              <a:ext cx="181101" cy="18110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374896" y="4680584"/>
            <a:ext cx="12452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Followed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1800">
              <a:latin typeface="Arial"/>
              <a:cs typeface="Arial"/>
            </a:endParaRPr>
          </a:p>
          <a:p>
            <a:pPr marL="268605" marR="111125" indent="-1524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&lt;Function name&gt;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791279" y="3690449"/>
            <a:ext cx="2284730" cy="819785"/>
            <a:chOff x="7791279" y="3690449"/>
            <a:chExt cx="2284730" cy="819785"/>
          </a:xfrm>
        </p:grpSpPr>
        <p:sp>
          <p:nvSpPr>
            <p:cNvPr id="36" name="object 36"/>
            <p:cNvSpPr/>
            <p:nvPr/>
          </p:nvSpPr>
          <p:spPr>
            <a:xfrm>
              <a:off x="7797629" y="3696799"/>
              <a:ext cx="2272030" cy="807085"/>
            </a:xfrm>
            <a:custGeom>
              <a:avLst/>
              <a:gdLst/>
              <a:ahLst/>
              <a:cxnLst/>
              <a:rect l="l" t="t" r="r" b="b"/>
              <a:pathLst>
                <a:path w="2272029" h="807085">
                  <a:moveTo>
                    <a:pt x="1388098" y="0"/>
                  </a:moveTo>
                  <a:lnTo>
                    <a:pt x="1337898" y="2519"/>
                  </a:lnTo>
                  <a:lnTo>
                    <a:pt x="1290241" y="10222"/>
                  </a:lnTo>
                  <a:lnTo>
                    <a:pt x="1246976" y="22803"/>
                  </a:lnTo>
                  <a:lnTo>
                    <a:pt x="1209952" y="39958"/>
                  </a:lnTo>
                  <a:lnTo>
                    <a:pt x="1181016" y="61383"/>
                  </a:lnTo>
                  <a:lnTo>
                    <a:pt x="1166068" y="54789"/>
                  </a:lnTo>
                  <a:lnTo>
                    <a:pt x="1115865" y="38269"/>
                  </a:lnTo>
                  <a:lnTo>
                    <a:pt x="1063322" y="27909"/>
                  </a:lnTo>
                  <a:lnTo>
                    <a:pt x="1009199" y="22966"/>
                  </a:lnTo>
                  <a:lnTo>
                    <a:pt x="955026" y="23214"/>
                  </a:lnTo>
                  <a:lnTo>
                    <a:pt x="902331" y="28427"/>
                  </a:lnTo>
                  <a:lnTo>
                    <a:pt x="852642" y="38379"/>
                  </a:lnTo>
                  <a:lnTo>
                    <a:pt x="807487" y="52843"/>
                  </a:lnTo>
                  <a:lnTo>
                    <a:pt x="768396" y="71593"/>
                  </a:lnTo>
                  <a:lnTo>
                    <a:pt x="736897" y="94403"/>
                  </a:lnTo>
                  <a:lnTo>
                    <a:pt x="694479" y="84218"/>
                  </a:lnTo>
                  <a:lnTo>
                    <a:pt x="649928" y="76867"/>
                  </a:lnTo>
                  <a:lnTo>
                    <a:pt x="603852" y="72412"/>
                  </a:lnTo>
                  <a:lnTo>
                    <a:pt x="556862" y="70914"/>
                  </a:lnTo>
                  <a:lnTo>
                    <a:pt x="509567" y="72432"/>
                  </a:lnTo>
                  <a:lnTo>
                    <a:pt x="447099" y="79345"/>
                  </a:lnTo>
                  <a:lnTo>
                    <a:pt x="389806" y="91169"/>
                  </a:lnTo>
                  <a:lnTo>
                    <a:pt x="338545" y="107357"/>
                  </a:lnTo>
                  <a:lnTo>
                    <a:pt x="294174" y="127365"/>
                  </a:lnTo>
                  <a:lnTo>
                    <a:pt x="257549" y="150647"/>
                  </a:lnTo>
                  <a:lnTo>
                    <a:pt x="229527" y="176657"/>
                  </a:lnTo>
                  <a:lnTo>
                    <a:pt x="202724" y="234679"/>
                  </a:lnTo>
                  <a:lnTo>
                    <a:pt x="205656" y="265599"/>
                  </a:lnTo>
                  <a:lnTo>
                    <a:pt x="203751" y="268012"/>
                  </a:lnTo>
                  <a:lnTo>
                    <a:pt x="151247" y="273773"/>
                  </a:lnTo>
                  <a:lnTo>
                    <a:pt x="103564" y="285142"/>
                  </a:lnTo>
                  <a:lnTo>
                    <a:pt x="62573" y="301534"/>
                  </a:lnTo>
                  <a:lnTo>
                    <a:pt x="30142" y="322368"/>
                  </a:lnTo>
                  <a:lnTo>
                    <a:pt x="3705" y="355465"/>
                  </a:lnTo>
                  <a:lnTo>
                    <a:pt x="0" y="389689"/>
                  </a:lnTo>
                  <a:lnTo>
                    <a:pt x="17679" y="422541"/>
                  </a:lnTo>
                  <a:lnTo>
                    <a:pt x="55396" y="451522"/>
                  </a:lnTo>
                  <a:lnTo>
                    <a:pt x="111803" y="474133"/>
                  </a:lnTo>
                  <a:lnTo>
                    <a:pt x="81821" y="493428"/>
                  </a:lnTo>
                  <a:lnTo>
                    <a:pt x="61400" y="515139"/>
                  </a:lnTo>
                  <a:lnTo>
                    <a:pt x="51099" y="538445"/>
                  </a:lnTo>
                  <a:lnTo>
                    <a:pt x="51478" y="562525"/>
                  </a:lnTo>
                  <a:lnTo>
                    <a:pt x="96036" y="616119"/>
                  </a:lnTo>
                  <a:lnTo>
                    <a:pt x="137044" y="636297"/>
                  </a:lnTo>
                  <a:lnTo>
                    <a:pt x="187302" y="650833"/>
                  </a:lnTo>
                  <a:lnTo>
                    <a:pt x="244383" y="658807"/>
                  </a:lnTo>
                  <a:lnTo>
                    <a:pt x="305859" y="659299"/>
                  </a:lnTo>
                  <a:lnTo>
                    <a:pt x="310050" y="662855"/>
                  </a:lnTo>
                  <a:lnTo>
                    <a:pt x="341618" y="684803"/>
                  </a:lnTo>
                  <a:lnTo>
                    <a:pt x="378095" y="704045"/>
                  </a:lnTo>
                  <a:lnTo>
                    <a:pt x="418818" y="720504"/>
                  </a:lnTo>
                  <a:lnTo>
                    <a:pt x="463123" y="734098"/>
                  </a:lnTo>
                  <a:lnTo>
                    <a:pt x="510347" y="744748"/>
                  </a:lnTo>
                  <a:lnTo>
                    <a:pt x="559827" y="752375"/>
                  </a:lnTo>
                  <a:lnTo>
                    <a:pt x="610901" y="756898"/>
                  </a:lnTo>
                  <a:lnTo>
                    <a:pt x="662903" y="758237"/>
                  </a:lnTo>
                  <a:lnTo>
                    <a:pt x="715172" y="756314"/>
                  </a:lnTo>
                  <a:lnTo>
                    <a:pt x="767044" y="751047"/>
                  </a:lnTo>
                  <a:lnTo>
                    <a:pt x="817856" y="742358"/>
                  </a:lnTo>
                  <a:lnTo>
                    <a:pt x="866945" y="730165"/>
                  </a:lnTo>
                  <a:lnTo>
                    <a:pt x="905204" y="753246"/>
                  </a:lnTo>
                  <a:lnTo>
                    <a:pt x="950702" y="772695"/>
                  </a:lnTo>
                  <a:lnTo>
                    <a:pt x="1002391" y="788119"/>
                  </a:lnTo>
                  <a:lnTo>
                    <a:pt x="1059223" y="799126"/>
                  </a:lnTo>
                  <a:lnTo>
                    <a:pt x="1115661" y="805064"/>
                  </a:lnTo>
                  <a:lnTo>
                    <a:pt x="1171820" y="806500"/>
                  </a:lnTo>
                  <a:lnTo>
                    <a:pt x="1226789" y="803671"/>
                  </a:lnTo>
                  <a:lnTo>
                    <a:pt x="1279657" y="796816"/>
                  </a:lnTo>
                  <a:lnTo>
                    <a:pt x="1329511" y="786172"/>
                  </a:lnTo>
                  <a:lnTo>
                    <a:pt x="1375441" y="771978"/>
                  </a:lnTo>
                  <a:lnTo>
                    <a:pt x="1416535" y="754470"/>
                  </a:lnTo>
                  <a:lnTo>
                    <a:pt x="1451883" y="733887"/>
                  </a:lnTo>
                  <a:lnTo>
                    <a:pt x="1501691" y="684445"/>
                  </a:lnTo>
                  <a:lnTo>
                    <a:pt x="1538674" y="693883"/>
                  </a:lnTo>
                  <a:lnTo>
                    <a:pt x="1577812" y="700797"/>
                  </a:lnTo>
                  <a:lnTo>
                    <a:pt x="1618545" y="705091"/>
                  </a:lnTo>
                  <a:lnTo>
                    <a:pt x="1660314" y="706670"/>
                  </a:lnTo>
                  <a:lnTo>
                    <a:pt x="1721634" y="703922"/>
                  </a:lnTo>
                  <a:lnTo>
                    <a:pt x="1778849" y="695590"/>
                  </a:lnTo>
                  <a:lnTo>
                    <a:pt x="1830724" y="682257"/>
                  </a:lnTo>
                  <a:lnTo>
                    <a:pt x="1876024" y="664506"/>
                  </a:lnTo>
                  <a:lnTo>
                    <a:pt x="1913513" y="642922"/>
                  </a:lnTo>
                  <a:lnTo>
                    <a:pt x="1960119" y="590586"/>
                  </a:lnTo>
                  <a:lnTo>
                    <a:pt x="1966765" y="561001"/>
                  </a:lnTo>
                  <a:lnTo>
                    <a:pt x="2011515" y="556471"/>
                  </a:lnTo>
                  <a:lnTo>
                    <a:pt x="2054538" y="549238"/>
                  </a:lnTo>
                  <a:lnTo>
                    <a:pt x="2095299" y="539409"/>
                  </a:lnTo>
                  <a:lnTo>
                    <a:pt x="2133262" y="527092"/>
                  </a:lnTo>
                  <a:lnTo>
                    <a:pt x="2185803" y="503228"/>
                  </a:lnTo>
                  <a:lnTo>
                    <a:pt x="2226190" y="475622"/>
                  </a:lnTo>
                  <a:lnTo>
                    <a:pt x="2254166" y="445247"/>
                  </a:lnTo>
                  <a:lnTo>
                    <a:pt x="2271843" y="380087"/>
                  </a:lnTo>
                  <a:lnTo>
                    <a:pt x="2261028" y="347249"/>
                  </a:lnTo>
                  <a:lnTo>
                    <a:pt x="2236765" y="315535"/>
                  </a:lnTo>
                  <a:lnTo>
                    <a:pt x="2198794" y="285919"/>
                  </a:lnTo>
                  <a:lnTo>
                    <a:pt x="2204001" y="280077"/>
                  </a:lnTo>
                  <a:lnTo>
                    <a:pt x="2208192" y="274108"/>
                  </a:lnTo>
                  <a:lnTo>
                    <a:pt x="2211621" y="268012"/>
                  </a:lnTo>
                  <a:lnTo>
                    <a:pt x="2221398" y="237062"/>
                  </a:lnTo>
                  <a:lnTo>
                    <a:pt x="2216572" y="206821"/>
                  </a:lnTo>
                  <a:lnTo>
                    <a:pt x="2167840" y="152480"/>
                  </a:lnTo>
                  <a:lnTo>
                    <a:pt x="2126298" y="130390"/>
                  </a:lnTo>
                  <a:lnTo>
                    <a:pt x="2074881" y="113024"/>
                  </a:lnTo>
                  <a:lnTo>
                    <a:pt x="2014771" y="101388"/>
                  </a:lnTo>
                  <a:lnTo>
                    <a:pt x="2003282" y="80886"/>
                  </a:lnTo>
                  <a:lnTo>
                    <a:pt x="1959729" y="44453"/>
                  </a:lnTo>
                  <a:lnTo>
                    <a:pt x="1886056" y="15249"/>
                  </a:lnTo>
                  <a:lnTo>
                    <a:pt x="1839872" y="5779"/>
                  </a:lnTo>
                  <a:lnTo>
                    <a:pt x="1791563" y="914"/>
                  </a:lnTo>
                  <a:lnTo>
                    <a:pt x="1742578" y="598"/>
                  </a:lnTo>
                  <a:lnTo>
                    <a:pt x="1694368" y="4777"/>
                  </a:lnTo>
                  <a:lnTo>
                    <a:pt x="1648380" y="13395"/>
                  </a:lnTo>
                  <a:lnTo>
                    <a:pt x="1606066" y="26398"/>
                  </a:lnTo>
                  <a:lnTo>
                    <a:pt x="1568874" y="43730"/>
                  </a:lnTo>
                  <a:lnTo>
                    <a:pt x="1551763" y="34051"/>
                  </a:lnTo>
                  <a:lnTo>
                    <a:pt x="1532568" y="25442"/>
                  </a:lnTo>
                  <a:lnTo>
                    <a:pt x="1511492" y="17977"/>
                  </a:lnTo>
                  <a:lnTo>
                    <a:pt x="1488737" y="11726"/>
                  </a:lnTo>
                  <a:lnTo>
                    <a:pt x="1438994" y="2967"/>
                  </a:lnTo>
                  <a:lnTo>
                    <a:pt x="1388098" y="0"/>
                  </a:lnTo>
                  <a:close/>
                </a:path>
              </a:pathLst>
            </a:custGeom>
            <a:solidFill>
              <a:srgbClr val="0473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97629" y="3696799"/>
              <a:ext cx="2272030" cy="807085"/>
            </a:xfrm>
            <a:custGeom>
              <a:avLst/>
              <a:gdLst/>
              <a:ahLst/>
              <a:cxnLst/>
              <a:rect l="l" t="t" r="r" b="b"/>
              <a:pathLst>
                <a:path w="2272029" h="807085">
                  <a:moveTo>
                    <a:pt x="205656" y="265599"/>
                  </a:moveTo>
                  <a:lnTo>
                    <a:pt x="210967" y="204850"/>
                  </a:lnTo>
                  <a:lnTo>
                    <a:pt x="257549" y="150647"/>
                  </a:lnTo>
                  <a:lnTo>
                    <a:pt x="294174" y="127365"/>
                  </a:lnTo>
                  <a:lnTo>
                    <a:pt x="338545" y="107357"/>
                  </a:lnTo>
                  <a:lnTo>
                    <a:pt x="389806" y="91169"/>
                  </a:lnTo>
                  <a:lnTo>
                    <a:pt x="447099" y="79345"/>
                  </a:lnTo>
                  <a:lnTo>
                    <a:pt x="509567" y="72432"/>
                  </a:lnTo>
                  <a:lnTo>
                    <a:pt x="556862" y="70914"/>
                  </a:lnTo>
                  <a:lnTo>
                    <a:pt x="603852" y="72412"/>
                  </a:lnTo>
                  <a:lnTo>
                    <a:pt x="649928" y="76867"/>
                  </a:lnTo>
                  <a:lnTo>
                    <a:pt x="694479" y="84218"/>
                  </a:lnTo>
                  <a:lnTo>
                    <a:pt x="736897" y="94403"/>
                  </a:lnTo>
                  <a:lnTo>
                    <a:pt x="768396" y="71593"/>
                  </a:lnTo>
                  <a:lnTo>
                    <a:pt x="807487" y="52843"/>
                  </a:lnTo>
                  <a:lnTo>
                    <a:pt x="852642" y="38379"/>
                  </a:lnTo>
                  <a:lnTo>
                    <a:pt x="902331" y="28427"/>
                  </a:lnTo>
                  <a:lnTo>
                    <a:pt x="955026" y="23214"/>
                  </a:lnTo>
                  <a:lnTo>
                    <a:pt x="1009199" y="22966"/>
                  </a:lnTo>
                  <a:lnTo>
                    <a:pt x="1063322" y="27909"/>
                  </a:lnTo>
                  <a:lnTo>
                    <a:pt x="1115865" y="38269"/>
                  </a:lnTo>
                  <a:lnTo>
                    <a:pt x="1166068" y="54789"/>
                  </a:lnTo>
                  <a:lnTo>
                    <a:pt x="1181016" y="61383"/>
                  </a:lnTo>
                  <a:lnTo>
                    <a:pt x="1209952" y="39958"/>
                  </a:lnTo>
                  <a:lnTo>
                    <a:pt x="1246976" y="22803"/>
                  </a:lnTo>
                  <a:lnTo>
                    <a:pt x="1290241" y="10222"/>
                  </a:lnTo>
                  <a:lnTo>
                    <a:pt x="1337898" y="2519"/>
                  </a:lnTo>
                  <a:lnTo>
                    <a:pt x="1388098" y="0"/>
                  </a:lnTo>
                  <a:lnTo>
                    <a:pt x="1438994" y="2967"/>
                  </a:lnTo>
                  <a:lnTo>
                    <a:pt x="1488737" y="11726"/>
                  </a:lnTo>
                  <a:lnTo>
                    <a:pt x="1532568" y="25442"/>
                  </a:lnTo>
                  <a:lnTo>
                    <a:pt x="1568874" y="43730"/>
                  </a:lnTo>
                  <a:lnTo>
                    <a:pt x="1606066" y="26398"/>
                  </a:lnTo>
                  <a:lnTo>
                    <a:pt x="1648380" y="13395"/>
                  </a:lnTo>
                  <a:lnTo>
                    <a:pt x="1694368" y="4777"/>
                  </a:lnTo>
                  <a:lnTo>
                    <a:pt x="1742578" y="598"/>
                  </a:lnTo>
                  <a:lnTo>
                    <a:pt x="1791563" y="914"/>
                  </a:lnTo>
                  <a:lnTo>
                    <a:pt x="1839872" y="5779"/>
                  </a:lnTo>
                  <a:lnTo>
                    <a:pt x="1886056" y="15249"/>
                  </a:lnTo>
                  <a:lnTo>
                    <a:pt x="1928665" y="29379"/>
                  </a:lnTo>
                  <a:lnTo>
                    <a:pt x="1984767" y="61764"/>
                  </a:lnTo>
                  <a:lnTo>
                    <a:pt x="2014771" y="101388"/>
                  </a:lnTo>
                  <a:lnTo>
                    <a:pt x="2074881" y="113024"/>
                  </a:lnTo>
                  <a:lnTo>
                    <a:pt x="2126298" y="130390"/>
                  </a:lnTo>
                  <a:lnTo>
                    <a:pt x="2167840" y="152480"/>
                  </a:lnTo>
                  <a:lnTo>
                    <a:pt x="2198325" y="178292"/>
                  </a:lnTo>
                  <a:lnTo>
                    <a:pt x="2221398" y="237062"/>
                  </a:lnTo>
                  <a:lnTo>
                    <a:pt x="2211621" y="268012"/>
                  </a:lnTo>
                  <a:lnTo>
                    <a:pt x="2208192" y="274108"/>
                  </a:lnTo>
                  <a:lnTo>
                    <a:pt x="2204001" y="280077"/>
                  </a:lnTo>
                  <a:lnTo>
                    <a:pt x="2198794" y="285919"/>
                  </a:lnTo>
                  <a:lnTo>
                    <a:pt x="2236765" y="315535"/>
                  </a:lnTo>
                  <a:lnTo>
                    <a:pt x="2261028" y="347249"/>
                  </a:lnTo>
                  <a:lnTo>
                    <a:pt x="2271843" y="380087"/>
                  </a:lnTo>
                  <a:lnTo>
                    <a:pt x="2269470" y="413078"/>
                  </a:lnTo>
                  <a:lnTo>
                    <a:pt x="2226190" y="475622"/>
                  </a:lnTo>
                  <a:lnTo>
                    <a:pt x="2185803" y="503228"/>
                  </a:lnTo>
                  <a:lnTo>
                    <a:pt x="2133262" y="527092"/>
                  </a:lnTo>
                  <a:lnTo>
                    <a:pt x="2095299" y="539409"/>
                  </a:lnTo>
                  <a:lnTo>
                    <a:pt x="2054538" y="549238"/>
                  </a:lnTo>
                  <a:lnTo>
                    <a:pt x="2011515" y="556471"/>
                  </a:lnTo>
                  <a:lnTo>
                    <a:pt x="1966765" y="561001"/>
                  </a:lnTo>
                  <a:lnTo>
                    <a:pt x="1960119" y="590586"/>
                  </a:lnTo>
                  <a:lnTo>
                    <a:pt x="1913513" y="642922"/>
                  </a:lnTo>
                  <a:lnTo>
                    <a:pt x="1876024" y="664506"/>
                  </a:lnTo>
                  <a:lnTo>
                    <a:pt x="1830724" y="682257"/>
                  </a:lnTo>
                  <a:lnTo>
                    <a:pt x="1778849" y="695590"/>
                  </a:lnTo>
                  <a:lnTo>
                    <a:pt x="1721634" y="703922"/>
                  </a:lnTo>
                  <a:lnTo>
                    <a:pt x="1660314" y="706670"/>
                  </a:lnTo>
                  <a:lnTo>
                    <a:pt x="1618545" y="705091"/>
                  </a:lnTo>
                  <a:lnTo>
                    <a:pt x="1577812" y="700797"/>
                  </a:lnTo>
                  <a:lnTo>
                    <a:pt x="1538674" y="693883"/>
                  </a:lnTo>
                  <a:lnTo>
                    <a:pt x="1501691" y="684445"/>
                  </a:lnTo>
                  <a:lnTo>
                    <a:pt x="1480572" y="710466"/>
                  </a:lnTo>
                  <a:lnTo>
                    <a:pt x="1416535" y="754470"/>
                  </a:lnTo>
                  <a:lnTo>
                    <a:pt x="1375441" y="771978"/>
                  </a:lnTo>
                  <a:lnTo>
                    <a:pt x="1329511" y="786172"/>
                  </a:lnTo>
                  <a:lnTo>
                    <a:pt x="1279657" y="796816"/>
                  </a:lnTo>
                  <a:lnTo>
                    <a:pt x="1226789" y="803671"/>
                  </a:lnTo>
                  <a:lnTo>
                    <a:pt x="1171820" y="806500"/>
                  </a:lnTo>
                  <a:lnTo>
                    <a:pt x="1115661" y="805064"/>
                  </a:lnTo>
                  <a:lnTo>
                    <a:pt x="1059223" y="799126"/>
                  </a:lnTo>
                  <a:lnTo>
                    <a:pt x="1002391" y="788119"/>
                  </a:lnTo>
                  <a:lnTo>
                    <a:pt x="950702" y="772695"/>
                  </a:lnTo>
                  <a:lnTo>
                    <a:pt x="905204" y="753246"/>
                  </a:lnTo>
                  <a:lnTo>
                    <a:pt x="866945" y="730165"/>
                  </a:lnTo>
                  <a:lnTo>
                    <a:pt x="817856" y="742358"/>
                  </a:lnTo>
                  <a:lnTo>
                    <a:pt x="767044" y="751047"/>
                  </a:lnTo>
                  <a:lnTo>
                    <a:pt x="715172" y="756314"/>
                  </a:lnTo>
                  <a:lnTo>
                    <a:pt x="662903" y="758237"/>
                  </a:lnTo>
                  <a:lnTo>
                    <a:pt x="610901" y="756898"/>
                  </a:lnTo>
                  <a:lnTo>
                    <a:pt x="559827" y="752375"/>
                  </a:lnTo>
                  <a:lnTo>
                    <a:pt x="510347" y="744748"/>
                  </a:lnTo>
                  <a:lnTo>
                    <a:pt x="463123" y="734098"/>
                  </a:lnTo>
                  <a:lnTo>
                    <a:pt x="418818" y="720504"/>
                  </a:lnTo>
                  <a:lnTo>
                    <a:pt x="378095" y="704045"/>
                  </a:lnTo>
                  <a:lnTo>
                    <a:pt x="341618" y="684803"/>
                  </a:lnTo>
                  <a:lnTo>
                    <a:pt x="310050" y="662855"/>
                  </a:lnTo>
                  <a:lnTo>
                    <a:pt x="307256" y="660442"/>
                  </a:lnTo>
                  <a:lnTo>
                    <a:pt x="305859" y="659299"/>
                  </a:lnTo>
                  <a:lnTo>
                    <a:pt x="244383" y="658807"/>
                  </a:lnTo>
                  <a:lnTo>
                    <a:pt x="187302" y="650833"/>
                  </a:lnTo>
                  <a:lnTo>
                    <a:pt x="137044" y="636297"/>
                  </a:lnTo>
                  <a:lnTo>
                    <a:pt x="96036" y="616119"/>
                  </a:lnTo>
                  <a:lnTo>
                    <a:pt x="66705" y="591222"/>
                  </a:lnTo>
                  <a:lnTo>
                    <a:pt x="51099" y="538445"/>
                  </a:lnTo>
                  <a:lnTo>
                    <a:pt x="61400" y="515139"/>
                  </a:lnTo>
                  <a:lnTo>
                    <a:pt x="81821" y="493428"/>
                  </a:lnTo>
                  <a:lnTo>
                    <a:pt x="111803" y="474133"/>
                  </a:lnTo>
                  <a:lnTo>
                    <a:pt x="55396" y="451522"/>
                  </a:lnTo>
                  <a:lnTo>
                    <a:pt x="17679" y="422541"/>
                  </a:lnTo>
                  <a:lnTo>
                    <a:pt x="0" y="389689"/>
                  </a:lnTo>
                  <a:lnTo>
                    <a:pt x="3705" y="355465"/>
                  </a:lnTo>
                  <a:lnTo>
                    <a:pt x="30142" y="322368"/>
                  </a:lnTo>
                  <a:lnTo>
                    <a:pt x="62573" y="301534"/>
                  </a:lnTo>
                  <a:lnTo>
                    <a:pt x="103564" y="285142"/>
                  </a:lnTo>
                  <a:lnTo>
                    <a:pt x="151247" y="273773"/>
                  </a:lnTo>
                  <a:lnTo>
                    <a:pt x="203751" y="268012"/>
                  </a:lnTo>
                  <a:lnTo>
                    <a:pt x="205656" y="265599"/>
                  </a:lnTo>
                  <a:close/>
                </a:path>
                <a:path w="2272029" h="807085">
                  <a:moveTo>
                    <a:pt x="247312" y="485944"/>
                  </a:moveTo>
                  <a:lnTo>
                    <a:pt x="212568" y="485925"/>
                  </a:lnTo>
                  <a:lnTo>
                    <a:pt x="178431" y="483404"/>
                  </a:lnTo>
                  <a:lnTo>
                    <a:pt x="145460" y="478408"/>
                  </a:lnTo>
                  <a:lnTo>
                    <a:pt x="114216" y="470958"/>
                  </a:lnTo>
                </a:path>
                <a:path w="2272029" h="807085">
                  <a:moveTo>
                    <a:pt x="364787" y="648631"/>
                  </a:moveTo>
                  <a:lnTo>
                    <a:pt x="350627" y="651136"/>
                  </a:lnTo>
                  <a:lnTo>
                    <a:pt x="336180" y="653140"/>
                  </a:lnTo>
                  <a:lnTo>
                    <a:pt x="321496" y="654668"/>
                  </a:lnTo>
                  <a:lnTo>
                    <a:pt x="306621" y="655743"/>
                  </a:lnTo>
                </a:path>
                <a:path w="2272029" h="807085">
                  <a:moveTo>
                    <a:pt x="866818" y="726863"/>
                  </a:moveTo>
                  <a:lnTo>
                    <a:pt x="856698" y="719105"/>
                  </a:lnTo>
                  <a:lnTo>
                    <a:pt x="847482" y="711084"/>
                  </a:lnTo>
                  <a:lnTo>
                    <a:pt x="839172" y="702825"/>
                  </a:lnTo>
                  <a:lnTo>
                    <a:pt x="831766" y="694351"/>
                  </a:lnTo>
                </a:path>
                <a:path w="2272029" h="807085">
                  <a:moveTo>
                    <a:pt x="1515915" y="645837"/>
                  </a:moveTo>
                  <a:lnTo>
                    <a:pt x="1513893" y="654932"/>
                  </a:lnTo>
                  <a:lnTo>
                    <a:pt x="1510883" y="663919"/>
                  </a:lnTo>
                  <a:lnTo>
                    <a:pt x="1506896" y="672787"/>
                  </a:lnTo>
                  <a:lnTo>
                    <a:pt x="1501945" y="681524"/>
                  </a:lnTo>
                </a:path>
                <a:path w="2272029" h="807085">
                  <a:moveTo>
                    <a:pt x="1794680" y="425746"/>
                  </a:moveTo>
                  <a:lnTo>
                    <a:pt x="1852971" y="443673"/>
                  </a:lnTo>
                  <a:lnTo>
                    <a:pt x="1900582" y="467018"/>
                  </a:lnTo>
                  <a:lnTo>
                    <a:pt x="1936129" y="494710"/>
                  </a:lnTo>
                  <a:lnTo>
                    <a:pt x="1958228" y="525676"/>
                  </a:lnTo>
                  <a:lnTo>
                    <a:pt x="1965495" y="558842"/>
                  </a:lnTo>
                </a:path>
                <a:path w="2272029" h="807085">
                  <a:moveTo>
                    <a:pt x="2197778" y="283887"/>
                  </a:moveTo>
                  <a:lnTo>
                    <a:pt x="2183284" y="297919"/>
                  </a:lnTo>
                  <a:lnTo>
                    <a:pt x="2165647" y="310986"/>
                  </a:lnTo>
                  <a:lnTo>
                    <a:pt x="2145057" y="322982"/>
                  </a:lnTo>
                  <a:lnTo>
                    <a:pt x="2121705" y="333798"/>
                  </a:lnTo>
                </a:path>
                <a:path w="2272029" h="807085">
                  <a:moveTo>
                    <a:pt x="2015152" y="98594"/>
                  </a:moveTo>
                  <a:lnTo>
                    <a:pt x="2018073" y="106468"/>
                  </a:lnTo>
                  <a:lnTo>
                    <a:pt x="2019343" y="114342"/>
                  </a:lnTo>
                  <a:lnTo>
                    <a:pt x="2019216" y="122216"/>
                  </a:lnTo>
                </a:path>
                <a:path w="2272029" h="807085">
                  <a:moveTo>
                    <a:pt x="1529123" y="71162"/>
                  </a:moveTo>
                  <a:lnTo>
                    <a:pt x="1537162" y="63120"/>
                  </a:lnTo>
                  <a:lnTo>
                    <a:pt x="1546379" y="55399"/>
                  </a:lnTo>
                  <a:lnTo>
                    <a:pt x="1556716" y="48035"/>
                  </a:lnTo>
                  <a:lnTo>
                    <a:pt x="1568112" y="41063"/>
                  </a:lnTo>
                </a:path>
                <a:path w="2272029" h="807085">
                  <a:moveTo>
                    <a:pt x="1164506" y="85513"/>
                  </a:moveTo>
                  <a:lnTo>
                    <a:pt x="1167981" y="78802"/>
                  </a:lnTo>
                  <a:lnTo>
                    <a:pt x="1172301" y="72210"/>
                  </a:lnTo>
                  <a:lnTo>
                    <a:pt x="1177454" y="65761"/>
                  </a:lnTo>
                  <a:lnTo>
                    <a:pt x="1183429" y="59478"/>
                  </a:lnTo>
                </a:path>
                <a:path w="2272029" h="807085">
                  <a:moveTo>
                    <a:pt x="736516" y="94276"/>
                  </a:moveTo>
                  <a:lnTo>
                    <a:pt x="754800" y="99795"/>
                  </a:lnTo>
                  <a:lnTo>
                    <a:pt x="772298" y="105849"/>
                  </a:lnTo>
                  <a:lnTo>
                    <a:pt x="788987" y="112404"/>
                  </a:lnTo>
                  <a:lnTo>
                    <a:pt x="804842" y="119422"/>
                  </a:lnTo>
                </a:path>
                <a:path w="2272029" h="807085">
                  <a:moveTo>
                    <a:pt x="217594" y="292015"/>
                  </a:moveTo>
                  <a:lnTo>
                    <a:pt x="213782" y="285495"/>
                  </a:lnTo>
                  <a:lnTo>
                    <a:pt x="210530" y="278903"/>
                  </a:lnTo>
                  <a:lnTo>
                    <a:pt x="207825" y="272263"/>
                  </a:lnTo>
                  <a:lnTo>
                    <a:pt x="205656" y="265599"/>
                  </a:lnTo>
                </a:path>
              </a:pathLst>
            </a:custGeom>
            <a:ln w="12700">
              <a:solidFill>
                <a:srgbClr val="0152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245605" y="3181985"/>
            <a:ext cx="57785" cy="57785"/>
            <a:chOff x="6245605" y="3181985"/>
            <a:chExt cx="57785" cy="57785"/>
          </a:xfrm>
        </p:grpSpPr>
        <p:sp>
          <p:nvSpPr>
            <p:cNvPr id="39" name="object 39"/>
            <p:cNvSpPr/>
            <p:nvPr/>
          </p:nvSpPr>
          <p:spPr>
            <a:xfrm>
              <a:off x="6251955" y="318833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22352" y="0"/>
                  </a:moveTo>
                  <a:lnTo>
                    <a:pt x="13662" y="1742"/>
                  </a:lnTo>
                  <a:lnTo>
                    <a:pt x="6556" y="6508"/>
                  </a:lnTo>
                  <a:lnTo>
                    <a:pt x="1760" y="13608"/>
                  </a:lnTo>
                  <a:lnTo>
                    <a:pt x="0" y="22351"/>
                  </a:lnTo>
                  <a:lnTo>
                    <a:pt x="1760" y="31041"/>
                  </a:lnTo>
                  <a:lnTo>
                    <a:pt x="6556" y="38147"/>
                  </a:lnTo>
                  <a:lnTo>
                    <a:pt x="13662" y="42943"/>
                  </a:lnTo>
                  <a:lnTo>
                    <a:pt x="22352" y="44703"/>
                  </a:lnTo>
                  <a:lnTo>
                    <a:pt x="31114" y="42943"/>
                  </a:lnTo>
                  <a:lnTo>
                    <a:pt x="38258" y="38147"/>
                  </a:lnTo>
                  <a:lnTo>
                    <a:pt x="43068" y="31041"/>
                  </a:lnTo>
                  <a:lnTo>
                    <a:pt x="44831" y="22351"/>
                  </a:lnTo>
                  <a:lnTo>
                    <a:pt x="43068" y="13608"/>
                  </a:lnTo>
                  <a:lnTo>
                    <a:pt x="38258" y="6508"/>
                  </a:lnTo>
                  <a:lnTo>
                    <a:pt x="31115" y="1742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0473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51955" y="318833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44831" y="22351"/>
                  </a:moveTo>
                  <a:lnTo>
                    <a:pt x="43068" y="31041"/>
                  </a:lnTo>
                  <a:lnTo>
                    <a:pt x="38258" y="38147"/>
                  </a:lnTo>
                  <a:lnTo>
                    <a:pt x="31114" y="42943"/>
                  </a:lnTo>
                  <a:lnTo>
                    <a:pt x="22352" y="44703"/>
                  </a:lnTo>
                  <a:lnTo>
                    <a:pt x="13662" y="42943"/>
                  </a:lnTo>
                  <a:lnTo>
                    <a:pt x="6556" y="38147"/>
                  </a:lnTo>
                  <a:lnTo>
                    <a:pt x="1760" y="31041"/>
                  </a:lnTo>
                  <a:lnTo>
                    <a:pt x="0" y="22351"/>
                  </a:lnTo>
                  <a:lnTo>
                    <a:pt x="1760" y="13608"/>
                  </a:lnTo>
                  <a:lnTo>
                    <a:pt x="6556" y="6508"/>
                  </a:lnTo>
                  <a:lnTo>
                    <a:pt x="13662" y="1742"/>
                  </a:lnTo>
                  <a:lnTo>
                    <a:pt x="22352" y="0"/>
                  </a:lnTo>
                  <a:lnTo>
                    <a:pt x="31115" y="1742"/>
                  </a:lnTo>
                  <a:lnTo>
                    <a:pt x="38258" y="6508"/>
                  </a:lnTo>
                  <a:lnTo>
                    <a:pt x="43068" y="13608"/>
                  </a:lnTo>
                  <a:lnTo>
                    <a:pt x="44831" y="22351"/>
                  </a:lnTo>
                  <a:close/>
                </a:path>
              </a:pathLst>
            </a:custGeom>
            <a:ln w="12700">
              <a:solidFill>
                <a:srgbClr val="0152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6819645" y="3358388"/>
            <a:ext cx="102235" cy="102235"/>
            <a:chOff x="6819645" y="3358388"/>
            <a:chExt cx="102235" cy="102235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25995" y="3364738"/>
              <a:ext cx="89534" cy="8953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19645" y="3358388"/>
              <a:ext cx="102234" cy="102235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7436104" y="3549015"/>
            <a:ext cx="147320" cy="147320"/>
            <a:chOff x="7436104" y="3549015"/>
            <a:chExt cx="147320" cy="147320"/>
          </a:xfrm>
        </p:grpSpPr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42454" y="3555365"/>
              <a:ext cx="134366" cy="13436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36104" y="3549015"/>
              <a:ext cx="147066" cy="14706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8237601" y="3786378"/>
            <a:ext cx="1231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Ends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()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2678" y="1076959"/>
            <a:ext cx="10364470" cy="128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Functions</a:t>
            </a:r>
            <a:r>
              <a:rPr sz="1800" spc="10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9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like</a:t>
            </a:r>
            <a:r>
              <a:rPr sz="1800" spc="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9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mini</a:t>
            </a:r>
            <a:r>
              <a:rPr sz="1800" spc="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programs</a:t>
            </a:r>
            <a:r>
              <a:rPr sz="1800" spc="1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which</a:t>
            </a:r>
            <a:r>
              <a:rPr sz="1800" spc="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performs</a:t>
            </a:r>
            <a:r>
              <a:rPr sz="1800" spc="8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specific</a:t>
            </a:r>
            <a:r>
              <a:rPr sz="1800" spc="9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task.</a:t>
            </a:r>
            <a:r>
              <a:rPr sz="1800" spc="1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</a:t>
            </a:r>
            <a:r>
              <a:rPr sz="1800" spc="10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10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designed</a:t>
            </a:r>
            <a:r>
              <a:rPr sz="1800" spc="10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9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perform</a:t>
            </a:r>
            <a:r>
              <a:rPr sz="1800" spc="10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9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logical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task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reuse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code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again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commonly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or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repeatedly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done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task.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8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sz="1800" b="1" u="sng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Function</a:t>
            </a:r>
            <a:r>
              <a:rPr sz="1800" b="1" u="sng" spc="-9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Definition: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32046" y="2614041"/>
            <a:ext cx="2492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3585" algn="l"/>
              </a:tabLst>
            </a:pPr>
            <a:r>
              <a:rPr sz="2800" b="1" spc="-25" dirty="0">
                <a:solidFill>
                  <a:srgbClr val="525254"/>
                </a:solidFill>
                <a:latin typeface="Arial"/>
                <a:cs typeface="Arial"/>
              </a:rPr>
              <a:t>def</a:t>
            </a:r>
            <a:r>
              <a:rPr sz="2800" b="1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2800" b="1" spc="-10" dirty="0">
                <a:solidFill>
                  <a:srgbClr val="525254"/>
                </a:solidFill>
                <a:latin typeface="Arial"/>
                <a:cs typeface="Arial"/>
              </a:rPr>
              <a:t>addition():</a:t>
            </a:r>
            <a:endParaRPr sz="28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Functions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3275" y="423417"/>
            <a:ext cx="260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4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25" dirty="0"/>
              <a:t>Types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60390" y="1112011"/>
            <a:ext cx="30721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Sample</a:t>
            </a:r>
            <a:r>
              <a:rPr sz="1800" b="1" u="sng" spc="-3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Code: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473EA"/>
                </a:solidFill>
                <a:latin typeface="Arial"/>
                <a:cs typeface="Arial"/>
              </a:rPr>
              <a:t>def</a:t>
            </a:r>
            <a:r>
              <a:rPr sz="1800" spc="-10" dirty="0">
                <a:solidFill>
                  <a:srgbClr val="0473EA"/>
                </a:solidFill>
                <a:latin typeface="Arial"/>
                <a:cs typeface="Arial"/>
              </a:rPr>
              <a:t> sample():</a:t>
            </a:r>
            <a:endParaRPr sz="1800">
              <a:latin typeface="Arial"/>
              <a:cs typeface="Arial"/>
            </a:endParaRPr>
          </a:p>
          <a:p>
            <a:pPr marL="267335" marR="5080">
              <a:lnSpc>
                <a:spcPct val="100000"/>
              </a:lnSpc>
            </a:pPr>
            <a:r>
              <a:rPr sz="1800" dirty="0">
                <a:solidFill>
                  <a:srgbClr val="0473EA"/>
                </a:solidFill>
                <a:latin typeface="Arial"/>
                <a:cs typeface="Arial"/>
              </a:rPr>
              <a:t>print(“Sample</a:t>
            </a:r>
            <a:r>
              <a:rPr sz="1800" spc="-55" dirty="0">
                <a:solidFill>
                  <a:srgbClr val="0473E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473EA"/>
                </a:solidFill>
                <a:latin typeface="Arial"/>
                <a:cs typeface="Arial"/>
              </a:rPr>
              <a:t>function</a:t>
            </a:r>
            <a:r>
              <a:rPr sz="1800" spc="-50" dirty="0">
                <a:solidFill>
                  <a:srgbClr val="0473E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473EA"/>
                </a:solidFill>
                <a:latin typeface="Arial"/>
                <a:cs typeface="Arial"/>
              </a:rPr>
              <a:t>call”) </a:t>
            </a:r>
            <a:r>
              <a:rPr sz="1800" dirty="0">
                <a:solidFill>
                  <a:srgbClr val="0473EA"/>
                </a:solidFill>
                <a:latin typeface="Arial"/>
                <a:cs typeface="Arial"/>
              </a:rPr>
              <a:t>print(“Function</a:t>
            </a:r>
            <a:r>
              <a:rPr sz="1800" spc="-75" dirty="0">
                <a:solidFill>
                  <a:srgbClr val="0473E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473EA"/>
                </a:solidFill>
                <a:latin typeface="Arial"/>
                <a:cs typeface="Arial"/>
              </a:rPr>
              <a:t>called”)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233" y="2483865"/>
            <a:ext cx="57785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73EA"/>
                </a:solidFill>
                <a:latin typeface="Arial"/>
                <a:cs typeface="Arial"/>
              </a:rPr>
              <a:t>sample()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sz="1800" b="1" u="sng" spc="-2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Types</a:t>
            </a:r>
            <a:r>
              <a:rPr sz="1800" b="1" u="sng" spc="-4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of</a:t>
            </a:r>
            <a:r>
              <a:rPr sz="1800" b="1" u="sng" spc="-45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Function</a:t>
            </a:r>
            <a:r>
              <a:rPr sz="1800" b="1" u="sng" spc="-55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Call/</a:t>
            </a:r>
            <a:r>
              <a:rPr sz="1800" b="1" u="sng" spc="-10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Argument </a:t>
            </a:r>
            <a:r>
              <a:rPr sz="1800" b="1" u="sng" spc="-1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Passing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845" y="1189101"/>
            <a:ext cx="264858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spc="-10" dirty="0">
                <a:solidFill>
                  <a:srgbClr val="525254"/>
                </a:solidFill>
                <a:uFill>
                  <a:solidFill>
                    <a:srgbClr val="525254"/>
                  </a:solidFill>
                </a:uFill>
                <a:latin typeface="Arial"/>
                <a:cs typeface="Arial"/>
              </a:rPr>
              <a:t>Syntax: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8D200"/>
                </a:solidFill>
                <a:latin typeface="Arial"/>
                <a:cs typeface="Arial"/>
              </a:rPr>
              <a:t>def</a:t>
            </a:r>
            <a:r>
              <a:rPr sz="2000" spc="-25" dirty="0">
                <a:solidFill>
                  <a:srgbClr val="38D2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D200"/>
                </a:solidFill>
                <a:latin typeface="Arial"/>
                <a:cs typeface="Arial"/>
              </a:rPr>
              <a:t>&lt;function</a:t>
            </a:r>
            <a:r>
              <a:rPr sz="2000" spc="-50" dirty="0">
                <a:solidFill>
                  <a:srgbClr val="38D2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D200"/>
                </a:solidFill>
                <a:latin typeface="Arial"/>
                <a:cs typeface="Arial"/>
              </a:rPr>
              <a:t>name&gt;</a:t>
            </a:r>
            <a:r>
              <a:rPr sz="2000" spc="-25" dirty="0">
                <a:solidFill>
                  <a:srgbClr val="38D200"/>
                </a:solidFill>
                <a:latin typeface="Arial"/>
                <a:cs typeface="Arial"/>
              </a:rPr>
              <a:t> ():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38D200"/>
                </a:solidFill>
                <a:latin typeface="Arial"/>
                <a:cs typeface="Arial"/>
              </a:rPr>
              <a:t>Statements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579" y="3468116"/>
            <a:ext cx="1021778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  <a:tab pos="2882265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Positional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Arguments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-</a:t>
            </a:r>
            <a:r>
              <a:rPr sz="1800" spc="434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arguments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passed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bound to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parameters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same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5"/>
              </a:spcBef>
              <a:buChar char="•"/>
              <a:tabLst>
                <a:tab pos="240665" algn="l"/>
                <a:tab pos="28822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Keyword</a:t>
            </a:r>
            <a:r>
              <a:rPr sz="1800" spc="-1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Arguments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sz="1800" spc="-5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0541" y="3747007"/>
            <a:ext cx="8035925" cy="1417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0" marR="145415" indent="12065">
              <a:lnSpc>
                <a:spcPct val="101800"/>
              </a:lnSpc>
              <a:spcBef>
                <a:spcPts val="6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Argument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passed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with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keywords</a:t>
            </a:r>
            <a:r>
              <a:rPr sz="1800" spc="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so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that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caller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doesn’t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remember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order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while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calling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-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Parameter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assumes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default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value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if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value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passed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</a:t>
            </a:r>
            <a:endParaRPr sz="1800">
              <a:latin typeface="Arial"/>
              <a:cs typeface="Arial"/>
            </a:endParaRPr>
          </a:p>
          <a:p>
            <a:pPr marL="127000" marR="5080" indent="12065">
              <a:lnSpc>
                <a:spcPct val="101699"/>
              </a:lnSpc>
              <a:tabLst>
                <a:tab pos="236093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function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call.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But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once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we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default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argument,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all</a:t>
            </a:r>
            <a:r>
              <a:rPr sz="1800" spc="-1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arguments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4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its</a:t>
            </a:r>
            <a:r>
              <a:rPr sz="1800" spc="47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right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must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also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default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values.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579" y="4306570"/>
            <a:ext cx="2221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Parameters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579" y="5144770"/>
            <a:ext cx="1094168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  <a:tab pos="2993390" algn="l"/>
                <a:tab pos="6764020" algn="l"/>
              </a:tabLst>
            </a:pP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Variable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Length</a:t>
            </a:r>
            <a:r>
              <a:rPr sz="1800" spc="-114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-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Not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knowing</a:t>
            </a:r>
            <a:r>
              <a:rPr sz="1800" spc="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how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many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arguments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	you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will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to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compare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beforehand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can</a:t>
            </a:r>
            <a:endParaRPr sz="1800">
              <a:latin typeface="Arial"/>
              <a:cs typeface="Arial"/>
            </a:endParaRPr>
          </a:p>
          <a:p>
            <a:pPr marL="39116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have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varying</a:t>
            </a:r>
            <a:r>
              <a:rPr sz="1800" spc="-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number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of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arguments.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1417" y="3035300"/>
            <a:ext cx="4657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Visualization</a:t>
            </a:r>
            <a:r>
              <a:rPr sz="3600" spc="-95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-</a:t>
            </a:r>
            <a:r>
              <a:rPr sz="3600" spc="-9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29292A"/>
                </a:solidFill>
                <a:latin typeface="Calibri"/>
                <a:cs typeface="Calibri"/>
              </a:rPr>
              <a:t>Matplotlib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Module</a:t>
            </a:r>
            <a:r>
              <a:rPr sz="3600" spc="-13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29292A"/>
                </a:solidFill>
                <a:latin typeface="Calibri"/>
                <a:cs typeface="Calibri"/>
              </a:rPr>
              <a:t>5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Matplotlib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742" y="1338198"/>
            <a:ext cx="9022080" cy="85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Visualize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data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&amp;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Plotting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library</a:t>
            </a:r>
            <a:endParaRPr sz="1800">
              <a:latin typeface="Arial"/>
              <a:cs typeface="Arial"/>
            </a:endParaRPr>
          </a:p>
          <a:p>
            <a:pPr marL="241300" marR="5080" indent="-229235">
              <a:lnSpc>
                <a:spcPct val="101699"/>
              </a:lnSpc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Module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used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from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mathplotlib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is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pyplot, which</a:t>
            </a:r>
            <a:r>
              <a:rPr sz="1800" spc="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provides</a:t>
            </a:r>
            <a:r>
              <a:rPr sz="1800" spc="-3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interface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like</a:t>
            </a:r>
            <a:r>
              <a:rPr sz="1800" spc="-4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MATLAB</a:t>
            </a:r>
            <a:r>
              <a:rPr sz="1800" spc="-4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but</a:t>
            </a:r>
            <a:r>
              <a:rPr sz="1800" spc="-3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uses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python</a:t>
            </a:r>
            <a:r>
              <a:rPr sz="1800" spc="1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its</a:t>
            </a:r>
            <a:r>
              <a:rPr sz="1800" spc="-2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25254"/>
                </a:solidFill>
                <a:latin typeface="Arial"/>
                <a:cs typeface="Arial"/>
              </a:rPr>
              <a:t>open</a:t>
            </a:r>
            <a:r>
              <a:rPr sz="1800" spc="-10" dirty="0">
                <a:solidFill>
                  <a:srgbClr val="525254"/>
                </a:solidFill>
                <a:latin typeface="Arial"/>
                <a:cs typeface="Arial"/>
              </a:rPr>
              <a:t> source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1954" y="2962211"/>
            <a:ext cx="3961765" cy="1601470"/>
            <a:chOff x="401954" y="2962211"/>
            <a:chExt cx="3961765" cy="16014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79" y="2981329"/>
              <a:ext cx="3942588" cy="14866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6717" y="2966973"/>
              <a:ext cx="3952240" cy="1591945"/>
            </a:xfrm>
            <a:custGeom>
              <a:avLst/>
              <a:gdLst/>
              <a:ahLst/>
              <a:cxnLst/>
              <a:rect l="l" t="t" r="r" b="b"/>
              <a:pathLst>
                <a:path w="3952240" h="1591945">
                  <a:moveTo>
                    <a:pt x="0" y="1591437"/>
                  </a:moveTo>
                  <a:lnTo>
                    <a:pt x="3952113" y="1591437"/>
                  </a:lnTo>
                  <a:lnTo>
                    <a:pt x="3952113" y="0"/>
                  </a:lnTo>
                  <a:lnTo>
                    <a:pt x="0" y="0"/>
                  </a:lnTo>
                  <a:lnTo>
                    <a:pt x="0" y="1591437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6894" y="2429618"/>
            <a:ext cx="5085979" cy="334256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00"/>
              </a:spcBef>
            </a:pPr>
            <a:r>
              <a:rPr dirty="0"/>
              <a:t>Bar</a:t>
            </a:r>
            <a:r>
              <a:rPr spc="-40" dirty="0"/>
              <a:t> </a:t>
            </a:r>
            <a:r>
              <a:rPr spc="-10" dirty="0"/>
              <a:t>Chart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06399" y="1185291"/>
            <a:ext cx="4304665" cy="4487545"/>
            <a:chOff x="906399" y="1185291"/>
            <a:chExt cx="4304665" cy="44875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924" y="1194816"/>
              <a:ext cx="4285488" cy="437309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1161" y="1190053"/>
              <a:ext cx="4295140" cy="4478020"/>
            </a:xfrm>
            <a:custGeom>
              <a:avLst/>
              <a:gdLst/>
              <a:ahLst/>
              <a:cxnLst/>
              <a:rect l="l" t="t" r="r" b="b"/>
              <a:pathLst>
                <a:path w="4295140" h="4478020">
                  <a:moveTo>
                    <a:pt x="0" y="4477893"/>
                  </a:moveTo>
                  <a:lnTo>
                    <a:pt x="4295013" y="4477893"/>
                  </a:lnTo>
                  <a:lnTo>
                    <a:pt x="4295013" y="0"/>
                  </a:lnTo>
                  <a:lnTo>
                    <a:pt x="0" y="0"/>
                  </a:lnTo>
                  <a:lnTo>
                    <a:pt x="0" y="4477893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982779" y="1864931"/>
            <a:ext cx="4239260" cy="3128010"/>
            <a:chOff x="5982779" y="1864931"/>
            <a:chExt cx="4239260" cy="31280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9377" y="1968730"/>
              <a:ext cx="4074940" cy="28987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87541" y="1869694"/>
              <a:ext cx="4229735" cy="3118485"/>
            </a:xfrm>
            <a:custGeom>
              <a:avLst/>
              <a:gdLst/>
              <a:ahLst/>
              <a:cxnLst/>
              <a:rect l="l" t="t" r="r" b="b"/>
              <a:pathLst>
                <a:path w="4229734" h="3118485">
                  <a:moveTo>
                    <a:pt x="0" y="3118485"/>
                  </a:moveTo>
                  <a:lnTo>
                    <a:pt x="4229481" y="3118485"/>
                  </a:lnTo>
                  <a:lnTo>
                    <a:pt x="4229481" y="0"/>
                  </a:lnTo>
                  <a:lnTo>
                    <a:pt x="0" y="0"/>
                  </a:lnTo>
                  <a:lnTo>
                    <a:pt x="0" y="3118485"/>
                  </a:lnTo>
                  <a:close/>
                </a:path>
              </a:pathLst>
            </a:custGeom>
            <a:ln w="9525">
              <a:solidFill>
                <a:srgbClr val="5252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FA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17111" y="2363165"/>
            <a:ext cx="40417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Use</a:t>
            </a:r>
            <a:r>
              <a:rPr sz="3600" spc="-2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29292A"/>
                </a:solidFill>
                <a:latin typeface="Calibri"/>
                <a:cs typeface="Calibri"/>
              </a:rPr>
              <a:t>Case</a:t>
            </a:r>
            <a:r>
              <a:rPr sz="3600" spc="-30" dirty="0">
                <a:solidFill>
                  <a:srgbClr val="29292A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29292A"/>
                </a:solidFill>
                <a:latin typeface="Calibri"/>
                <a:cs typeface="Calibri"/>
              </a:rPr>
              <a:t>Assignment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374647" y="2327139"/>
            <a:ext cx="9406255" cy="1620520"/>
            <a:chOff x="1374647" y="2327139"/>
            <a:chExt cx="9406255" cy="16205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312" y="2327139"/>
              <a:ext cx="9355850" cy="15895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4647" y="2350008"/>
              <a:ext cx="9406128" cy="15971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7611" y="2357628"/>
              <a:ext cx="9259823" cy="14859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30172" y="2465959"/>
            <a:ext cx="8820785" cy="11899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Main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menu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lets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Account,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details,</a:t>
            </a:r>
            <a:r>
              <a:rPr sz="2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Withdraw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deposit</a:t>
            </a: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option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entered.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1672" y="288163"/>
            <a:ext cx="35007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525254"/>
                </a:solidFill>
                <a:latin typeface="Arial"/>
                <a:cs typeface="Arial"/>
              </a:rPr>
              <a:t>Problem</a:t>
            </a:r>
            <a:r>
              <a:rPr sz="3200" spc="-55" dirty="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525254"/>
                </a:solidFill>
                <a:latin typeface="Arial"/>
                <a:cs typeface="Arial"/>
              </a:rPr>
              <a:t>Statement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2525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2054</Words>
  <Application>Microsoft Office PowerPoint</Application>
  <PresentationFormat>Widescreen</PresentationFormat>
  <Paragraphs>474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Times New Roman</vt:lpstr>
      <vt:lpstr>Verdana</vt:lpstr>
      <vt:lpstr>Wingdings</vt:lpstr>
      <vt:lpstr>Office Theme</vt:lpstr>
      <vt:lpstr>Python Programming</vt:lpstr>
      <vt:lpstr>Modules</vt:lpstr>
      <vt:lpstr>Module 1</vt:lpstr>
      <vt:lpstr>What is Python and Why its popular?</vt:lpstr>
      <vt:lpstr>Companies that use Python</vt:lpstr>
      <vt:lpstr>Python Applications</vt:lpstr>
      <vt:lpstr>Setting up Working Environment</vt:lpstr>
      <vt:lpstr>Install Anaconda on Local Machine</vt:lpstr>
      <vt:lpstr>Jupyter Notebook</vt:lpstr>
      <vt:lpstr>Open/Execute a program in Jupyter Notebook</vt:lpstr>
      <vt:lpstr>Data types in Python</vt:lpstr>
      <vt:lpstr>Datatypes in Python</vt:lpstr>
      <vt:lpstr>String Indexes [Slicing using colon]</vt:lpstr>
      <vt:lpstr>String built in functions</vt:lpstr>
      <vt:lpstr>Taking Input from User with Implicit type conversion</vt:lpstr>
      <vt:lpstr>PowerPoint Presentation</vt:lpstr>
      <vt:lpstr>Operators in Python</vt:lpstr>
      <vt:lpstr>Operators in Python</vt:lpstr>
      <vt:lpstr>Operators in Python</vt:lpstr>
      <vt:lpstr>Assignment Operators</vt:lpstr>
      <vt:lpstr>Conditional Statements - if, elif, else</vt:lpstr>
      <vt:lpstr>Loops in python</vt:lpstr>
      <vt:lpstr>Module 2</vt:lpstr>
      <vt:lpstr>Data types in Python - Revisited</vt:lpstr>
      <vt:lpstr>Python Collections (Arrays)</vt:lpstr>
      <vt:lpstr>Collection - List</vt:lpstr>
      <vt:lpstr>List Methods</vt:lpstr>
      <vt:lpstr>Tuple</vt:lpstr>
      <vt:lpstr>List and Tuple case study</vt:lpstr>
      <vt:lpstr>Collection Set</vt:lpstr>
      <vt:lpstr>Dictionary</vt:lpstr>
      <vt:lpstr>Dictionary continued</vt:lpstr>
      <vt:lpstr>Module 3</vt:lpstr>
      <vt:lpstr>File Handling in Python</vt:lpstr>
      <vt:lpstr>Module 4</vt:lpstr>
      <vt:lpstr>Functions</vt:lpstr>
      <vt:lpstr>Functions - Types</vt:lpstr>
      <vt:lpstr>Module 5</vt:lpstr>
      <vt:lpstr>Matplotlib</vt:lpstr>
      <vt:lpstr>Bar Chart</vt:lpstr>
      <vt:lpstr>Use Case Assignment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Practitioner</dc:title>
  <dc:creator>Sundaramoorthy, Rekha</dc:creator>
  <cp:lastModifiedBy>Prabhat Chandra</cp:lastModifiedBy>
  <cp:revision>1</cp:revision>
  <dcterms:created xsi:type="dcterms:W3CDTF">2025-11-12T02:28:59Z</dcterms:created>
  <dcterms:modified xsi:type="dcterms:W3CDTF">2025-11-12T02:48:54Z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2025-11-12T00:00:00Z</vt:filetime>
  </property>
  <property fmtid="{D5CDD505-2E9C-101B-9397-08002B2CF9AE}" pid="5" name="MSIP_Label_840e60c6-cef6-4cc0-a98d-364c7249d74b_Enabled">
    <vt:lpwstr>True</vt:lpwstr>
  </property>
  <property fmtid="{D5CDD505-2E9C-101B-9397-08002B2CF9AE}" pid="6" name="MSIP_Label_840e60c6-cef6-4cc0-a98d-364c7249d74b_Method">
    <vt:lpwstr>Privileged</vt:lpwstr>
  </property>
  <property fmtid="{D5CDD505-2E9C-101B-9397-08002B2CF9AE}" pid="7" name="MSIP_Label_840e60c6-cef6-4cc0-a98d-364c7249d74b_SiteId">
    <vt:lpwstr>b44900f1-2def-4c3b-9ec6-9020d604e19e</vt:lpwstr>
  </property>
  <property fmtid="{D5CDD505-2E9C-101B-9397-08002B2CF9AE}" pid="8" name="Producer">
    <vt:lpwstr>3-Heights(TM) PDF Security Shell 4.8.25.2 (http://www.pdf-tools.com)</vt:lpwstr>
  </property>
</Properties>
</file>